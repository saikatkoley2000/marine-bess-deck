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1097280" y="1097280"/>
            <a:ext cx="9994392" cy="4663440"/>
          </a:xfrm>
          <a:prstGeom prst="rect">
            <a:avLst/>
          </a:prstGeom>
          <a:solidFill>
            <a:srgbClr val="111C30"/>
          </a:solidFill>
          <a:ln w="25400">
            <a:solidFill>
              <a:srgbClr val="0284C7"/>
            </a:solidFill>
            <a:prstDash val="solid"/>
          </a:ln>
        </p:spPr>
      </p:sp>
      <p:sp>
        <p:nvSpPr>
          <p:cNvPr id="3" name="Text 1"/>
          <p:cNvSpPr/>
          <p:nvPr/>
        </p:nvSpPr>
        <p:spPr>
          <a:xfrm>
            <a:off x="1463040" y="1463040"/>
            <a:ext cx="9144000" cy="32004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VFCPL MARINE ENERGY PLATFORM (VFCPL-MEP-001)</a:t>
            </a:r>
            <a:endParaRPr lang="en-US" sz="1400" dirty="0"/>
          </a:p>
        </p:txBody>
      </p:sp>
      <p:sp>
        <p:nvSpPr>
          <p:cNvPr id="4" name="Text 2"/>
          <p:cNvSpPr/>
          <p:nvPr/>
        </p:nvSpPr>
        <p:spPr>
          <a:xfrm>
            <a:off x="1463040" y="1920240"/>
            <a:ext cx="9235440" cy="109728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Project SAMUDRA — AMBESS (Anchor Mode BESS)</a:t>
            </a:r>
            <a:endParaRPr lang="en-US" sz="2600" dirty="0"/>
          </a:p>
          <a:p>
            <a:pPr indent="0" marL="0">
              <a:buNone/>
            </a:pPr>
            <a:r>
              <a:rPr lang="en-US" sz="2600" b="1" dirty="0">
                <a:solidFill>
                  <a:srgbClr val="F8FAFC"/>
                </a:solidFill>
                <a:latin typeface="Arial" pitchFamily="34" charset="0"/>
                <a:ea typeface="Arial" pitchFamily="34" charset="-122"/>
                <a:cs typeface="Arial" pitchFamily="34" charset="-120"/>
              </a:rPr>
              <a:t>American Standards (ABS ESS-LiBATTERY) &amp; IRS Compliance</a:t>
            </a:r>
            <a:endParaRPr lang="en-US" sz="2600" dirty="0"/>
          </a:p>
        </p:txBody>
      </p:sp>
      <p:sp>
        <p:nvSpPr>
          <p:cNvPr id="5" name="Shape 3"/>
          <p:cNvSpPr/>
          <p:nvPr/>
        </p:nvSpPr>
        <p:spPr>
          <a:xfrm>
            <a:off x="1463040" y="3200400"/>
            <a:ext cx="9235440" cy="0"/>
          </a:xfrm>
          <a:prstGeom prst="line">
            <a:avLst/>
          </a:prstGeom>
          <a:noFill/>
          <a:ln w="19050">
            <a:solidFill>
              <a:srgbClr val="223252"/>
            </a:solidFill>
            <a:prstDash val="solid"/>
          </a:ln>
        </p:spPr>
      </p:sp>
      <p:sp>
        <p:nvSpPr>
          <p:cNvPr id="6" name="Text 4"/>
          <p:cNvSpPr/>
          <p:nvPr/>
        </p:nvSpPr>
        <p:spPr>
          <a:xfrm>
            <a:off x="1463040" y="3383280"/>
            <a:ext cx="9235440" cy="2103120"/>
          </a:xfrm>
          <a:prstGeom prst="rect">
            <a:avLst/>
          </a:prstGeom>
          <a:noFill/>
          <a:ln/>
        </p:spPr>
        <p:txBody>
          <a:bodyPr wrap="square" rtlCol="0" anchor="ctr"/>
          <a:lstStyle/>
          <a:p>
            <a:pPr indent="0" marL="0">
              <a:lnSpc>
                <a:spcPts val="2200"/>
              </a:lnSpc>
              <a:buNone/>
            </a:pPr>
            <a:r>
              <a:rPr lang="en-US" sz="1200" b="1" dirty="0">
                <a:solidFill>
                  <a:srgbClr val="38BDF8"/>
                </a:solidFill>
                <a:latin typeface="Arial" pitchFamily="34" charset="0"/>
                <a:ea typeface="Arial" pitchFamily="34" charset="-122"/>
                <a:cs typeface="Arial" pitchFamily="34" charset="-120"/>
              </a:rPr>
              <a:t>Applicant &amp; Integrator: </a:t>
            </a:r>
            <a:pPr indent="0" marL="0">
              <a:lnSpc>
                <a:spcPts val="2200"/>
              </a:lnSpc>
              <a:buNone/>
            </a:pPr>
            <a:r>
              <a:rPr lang="en-US" sz="1200" dirty="0">
                <a:solidFill>
                  <a:srgbClr val="F8FAFC"/>
                </a:solidFill>
                <a:latin typeface="Arial" pitchFamily="34" charset="0"/>
                <a:ea typeface="Arial" pitchFamily="34" charset="-122"/>
                <a:cs typeface="Arial" pitchFamily="34" charset="-120"/>
              </a:rPr>
              <a:t>VFCPL (Vayusakti Future Construct Pvt. Ltd.)
</a:t>
            </a:r>
            <a:pPr indent="0" marL="0">
              <a:lnSpc>
                <a:spcPts val="2200"/>
              </a:lnSpc>
              <a:buNone/>
            </a:pPr>
            <a:r>
              <a:rPr lang="en-US" sz="1200" b="1" dirty="0">
                <a:solidFill>
                  <a:srgbClr val="38BDF8"/>
                </a:solidFill>
                <a:latin typeface="Arial" pitchFamily="34" charset="0"/>
                <a:ea typeface="Arial" pitchFamily="34" charset="-122"/>
                <a:cs typeface="Arial" pitchFamily="34" charset="-120"/>
              </a:rPr>
              <a:t>Battery &amp; BMS OEM Partner: </a:t>
            </a:r>
            <a:pPr indent="0" marL="0">
              <a:lnSpc>
                <a:spcPts val="2200"/>
              </a:lnSpc>
              <a:buNone/>
            </a:pPr>
            <a:r>
              <a:rPr lang="en-US" sz="1200" dirty="0">
                <a:solidFill>
                  <a:srgbClr val="F8FAFC"/>
                </a:solidFill>
                <a:latin typeface="Arial" pitchFamily="34" charset="0"/>
                <a:ea typeface="Arial" pitchFamily="34" charset="-122"/>
                <a:cs typeface="Arial" pitchFamily="34" charset="-120"/>
              </a:rPr>
              <a:t>Clean Electric (307.12 Ah LFP Prismatic Cells)
</a:t>
            </a:r>
            <a:pPr indent="0" marL="0">
              <a:lnSpc>
                <a:spcPts val="2200"/>
              </a:lnSpc>
              <a:buNone/>
            </a:pPr>
            <a:r>
              <a:rPr lang="en-US" sz="1200" b="1" dirty="0">
                <a:solidFill>
                  <a:srgbClr val="38BDF8"/>
                </a:solidFill>
                <a:latin typeface="Arial" pitchFamily="34" charset="0"/>
                <a:ea typeface="Arial" pitchFamily="34" charset="-122"/>
                <a:cs typeface="Arial" pitchFamily="34" charset="-120"/>
              </a:rPr>
              <a:t>Domestic Rules: </a:t>
            </a:r>
            <a:pPr indent="0" marL="0">
              <a:lnSpc>
                <a:spcPts val="2200"/>
              </a:lnSpc>
              <a:buNone/>
            </a:pPr>
            <a:r>
              <a:rPr lang="en-US" sz="1200" dirty="0">
                <a:solidFill>
                  <a:srgbClr val="F8FAFC"/>
                </a:solidFill>
                <a:latin typeface="Arial" pitchFamily="34" charset="0"/>
                <a:ea typeface="Arial" pitchFamily="34" charset="-122"/>
                <a:cs typeface="Arial" pitchFamily="34" charset="-120"/>
              </a:rPr>
              <a:t>IRS CN Rev.1 (March 2026) &amp; Guidelines on Battery Powered Vessels (GL Rev.2)
</a:t>
            </a:r>
            <a:pPr indent="0" marL="0">
              <a:lnSpc>
                <a:spcPts val="2200"/>
              </a:lnSpc>
              <a:buNone/>
            </a:pPr>
            <a:r>
              <a:rPr lang="en-US" sz="1200" b="1" dirty="0">
                <a:solidFill>
                  <a:srgbClr val="38BDF8"/>
                </a:solidFill>
                <a:latin typeface="Arial" pitchFamily="34" charset="0"/>
                <a:ea typeface="Arial" pitchFamily="34" charset="-122"/>
                <a:cs typeface="Arial" pitchFamily="34" charset="-120"/>
              </a:rPr>
              <a:t>American Rules: </a:t>
            </a:r>
            <a:pPr indent="0" marL="0">
              <a:lnSpc>
                <a:spcPts val="2200"/>
              </a:lnSpc>
              <a:buNone/>
            </a:pPr>
            <a:r>
              <a:rPr lang="en-US" sz="1200" dirty="0">
                <a:solidFill>
                  <a:srgbClr val="F8FAFC"/>
                </a:solidFill>
                <a:latin typeface="Arial" pitchFamily="34" charset="0"/>
                <a:ea typeface="Arial" pitchFamily="34" charset="-122"/>
                <a:cs typeface="Arial" pitchFamily="34" charset="-120"/>
              </a:rPr>
              <a:t>ABS Requirements for Lithium-ion Batteries (Dec 2025) &amp; Notation ESS-LiBATTERY (Jan 2026)
</a:t>
            </a:r>
            <a:pPr indent="0" marL="0">
              <a:lnSpc>
                <a:spcPts val="2200"/>
              </a:lnSpc>
              <a:buNone/>
            </a:pPr>
            <a:r>
              <a:rPr lang="en-US" sz="1200" b="1" dirty="0">
                <a:solidFill>
                  <a:srgbClr val="38BDF8"/>
                </a:solidFill>
                <a:latin typeface="Arial" pitchFamily="34" charset="0"/>
                <a:ea typeface="Arial" pitchFamily="34" charset="-122"/>
                <a:cs typeface="Arial" pitchFamily="34" charset="-120"/>
              </a:rPr>
              <a:t>Core Architecture: </a:t>
            </a:r>
            <a:pPr indent="0" marL="0">
              <a:lnSpc>
                <a:spcPts val="2200"/>
              </a:lnSpc>
              <a:buNone/>
            </a:pPr>
            <a:r>
              <a:rPr lang="en-US" sz="1200" dirty="0">
                <a:solidFill>
                  <a:srgbClr val="F8FAFC"/>
                </a:solidFill>
                <a:latin typeface="Arial" pitchFamily="34" charset="0"/>
                <a:ea typeface="Arial" pitchFamily="34" charset="-122"/>
                <a:cs typeface="Arial" pitchFamily="34" charset="-120"/>
              </a:rPr>
              <a:t>Direct-Contact Dielectric Immersion-Cooled Pack with Closed-Loop Recirculation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2 | REGULATORY HIERARCHY</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Applicability Thresholds, Small Battery Rules &amp; Class Notations</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18638"/>
                <a:gridCol w="2818638"/>
                <a:gridCol w="2818638"/>
                <a:gridCol w="2818638"/>
              </a:tblGrid>
              <a:tr h="320040">
                <a:tc>
                  <a:txBody>
                    <a:bodyPr/>
                    <a:lstStyle/>
                    <a:p>
                      <a:pPr indent="0" marL="0">
                        <a:buNone/>
                      </a:pPr>
                      <a:r>
                        <a:rPr lang="en-US" sz="1000" b="1" dirty="0">
                          <a:solidFill>
                            <a:srgbClr val="38BDF8"/>
                          </a:solidFill>
                          <a:latin typeface="Arial" pitchFamily="34" charset="0"/>
                          <a:ea typeface="Arial" pitchFamily="34" charset="-122"/>
                          <a:cs typeface="Arial" pitchFamily="34" charset="-120"/>
                        </a:rPr>
                        <a:t>Regulatory Domain</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American Standard (ABS Dec 2025 Guide)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Indian Standard (IRS Mar 2026)</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VFCPL Implementation &amp; Verdict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822960">
                <a:tc>
                  <a:txBody>
                    <a:bodyPr/>
                    <a:lstStyle/>
                    <a:p>
                      <a:pPr indent="0" marL="0">
                        <a:buNone/>
                      </a:pPr>
                      <a:r>
                        <a:rPr lang="en-US" sz="1000" b="1" dirty="0">
                          <a:solidFill>
                            <a:srgbClr val="F8FAFC"/>
                          </a:solidFill>
                          <a:latin typeface="Arial" pitchFamily="34" charset="0"/>
                          <a:ea typeface="Arial" pitchFamily="34" charset="-122"/>
                          <a:cs typeface="Arial" pitchFamily="34" charset="-120"/>
                        </a:rPr>
                        <a:t>Mandatory Capacity Threshold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&gt;= 20 kWh (Lowered from 25 kWh in Apr 2024; confirmed Dec 2025). Mandatory application of ABS Part 4, Ch 8 &amp; Guide.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Mandatory for all lithium-ion systems intended for propulsion or essential services; no lower cutoff.</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COMPLIANT: MEP-001 is a full industrial commercial storage platform (&gt; 20 kWh).</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Small Battery Clause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2 to &lt;20 kWh (Section 1/3.1): Specific simplified rules for units in control stations. Not a blanket waiver.</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Handled on plan approval case-by-case; basic IEC 62619 safety compliance required.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NOTED: MEP-001 targets the comprehensive &gt;= 20 kWh regime; Sec 1/3.1 is not an exemption.</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Class Notation Assignment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ESS-LiBATTERY (ABS Jan 2026 p.59). Optional vessel notation verifying compliant installed battery system.</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BATTERY PROP (Main Propulsion) or BATTERY (PROPULSION SUPPORT) (Auxiliary/Hybrid).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ALIGNED: AMBESS qualifies for ESS-LiBATTERY and BATTERY (PROPULSION SUPPORT).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US Statutory Framework</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USCG NVIC 02-19, 46 CFR Subchapter J (Electrical), NFPA 855 (Stationary Energy).</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DG Shipping Merchant Shipping Rules &amp; IMO MSC.1/Circ.1453 &amp; Circ.1647.</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F59E0B"/>
                          </a:solidFill>
                          <a:latin typeface="Arial" pitchFamily="34" charset="0"/>
                          <a:ea typeface="Arial" pitchFamily="34" charset="-122"/>
                          <a:cs typeface="Arial" pitchFamily="34" charset="-120"/>
                        </a:rPr>
                        <a:t>ACTION REQUIRED: Submit thermal propagation &amp; FMEA reports to USCG MSC for US flag.</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
        <p:nvSpPr>
          <p:cNvPr id="9" name="Shape 6"/>
          <p:cNvSpPr/>
          <p:nvPr/>
        </p:nvSpPr>
        <p:spPr>
          <a:xfrm>
            <a:off x="457200" y="5257800"/>
            <a:ext cx="11274552" cy="868680"/>
          </a:xfrm>
          <a:prstGeom prst="rect">
            <a:avLst/>
          </a:prstGeom>
          <a:solidFill>
            <a:srgbClr val="1A1708"/>
          </a:solidFill>
          <a:ln w="12700">
            <a:solidFill>
              <a:srgbClr val="F59E0B"/>
            </a:solidFill>
            <a:prstDash val="solid"/>
          </a:ln>
        </p:spPr>
      </p:sp>
      <p:sp>
        <p:nvSpPr>
          <p:cNvPr id="10" name="Text 7"/>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CRITICAL RULE INTERPRETATION (Section 1/3.1 of Marine BESS.docx): </a:t>
            </a:r>
            <a:pPr indent="0" marL="0">
              <a:buNone/>
            </a:pPr>
            <a:r>
              <a:rPr lang="en-US" sz="1000" dirty="0">
                <a:solidFill>
                  <a:srgbClr val="F8FAFC"/>
                </a:solidFill>
                <a:latin typeface="Arial" pitchFamily="34" charset="0"/>
                <a:ea typeface="Arial" pitchFamily="34" charset="-122"/>
                <a:cs typeface="Arial" pitchFamily="34" charset="-120"/>
              </a:rPr>
              <a:t>Section 1/3.1 addresses 2 to &lt;20 kWh systems located in control stations; it is NOT a blanket waiver for smaller batteries. Because VFCPL-MEP-001 is an industrial marine energy storage system with scalable capacity exceeding 20 kWh, the full ABS guide applies unconditionally.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3 | CERTIFICATION PATHWAYS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What Certificate Should a BESS Supplier Seek? (Section 3)</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71600"/>
            <a:ext cx="3593592" cy="3657600"/>
          </a:xfrm>
          <a:prstGeom prst="rect">
            <a:avLst/>
          </a:prstGeom>
          <a:solidFill>
            <a:srgbClr val="111C30"/>
          </a:solidFill>
          <a:ln w="12700">
            <a:solidFill>
              <a:srgbClr val="223252"/>
            </a:solidFill>
            <a:prstDash val="solid"/>
          </a:ln>
        </p:spPr>
      </p:sp>
      <p:sp>
        <p:nvSpPr>
          <p:cNvPr id="9" name="Text 7"/>
          <p:cNvSpPr/>
          <p:nvPr/>
        </p:nvSpPr>
        <p:spPr>
          <a:xfrm>
            <a:off x="640080" y="1508760"/>
            <a:ext cx="3227832"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1. Product Design Assessment (PDA)</a:t>
            </a:r>
            <a:endParaRPr lang="en-US" sz="1300" dirty="0"/>
          </a:p>
        </p:txBody>
      </p:sp>
      <p:sp>
        <p:nvSpPr>
          <p:cNvPr id="10" name="Text 8"/>
          <p:cNvSpPr/>
          <p:nvPr/>
        </p:nvSpPr>
        <p:spPr>
          <a:xfrm>
            <a:off x="640080" y="1828800"/>
            <a:ext cx="3227832" cy="2286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ABS Design Assessment (5-Yr Validity)</a:t>
            </a:r>
            <a:endParaRPr lang="en-US" sz="950" dirty="0"/>
          </a:p>
        </p:txBody>
      </p:sp>
      <p:sp>
        <p:nvSpPr>
          <p:cNvPr id="11" name="Text 9"/>
          <p:cNvSpPr/>
          <p:nvPr/>
        </p:nvSpPr>
        <p:spPr>
          <a:xfrm>
            <a:off x="640080" y="2148840"/>
            <a:ext cx="3227832" cy="274320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Technical review of defined product against stated rules &amp; standards.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Review of engineering drawings, SLDs, thermal models, and FMEA.</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Verification of accredited cell test reports (IEC 62619, IEC 62620).</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Verification of thermal runaway propagation evidence (UL 9540A).</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Satisfies technical design review for any shipyard or project.</a:t>
            </a:r>
            <a:endParaRPr lang="en-US" sz="1000" dirty="0"/>
          </a:p>
        </p:txBody>
      </p:sp>
      <p:sp>
        <p:nvSpPr>
          <p:cNvPr id="12" name="Shape 10"/>
          <p:cNvSpPr/>
          <p:nvPr/>
        </p:nvSpPr>
        <p:spPr>
          <a:xfrm>
            <a:off x="4297680" y="1371600"/>
            <a:ext cx="3593592" cy="3657600"/>
          </a:xfrm>
          <a:prstGeom prst="rect">
            <a:avLst/>
          </a:prstGeom>
          <a:solidFill>
            <a:srgbClr val="111C30"/>
          </a:solidFill>
          <a:ln w="12700">
            <a:solidFill>
              <a:srgbClr val="223252"/>
            </a:solidFill>
            <a:prstDash val="solid"/>
          </a:ln>
        </p:spPr>
      </p:sp>
      <p:sp>
        <p:nvSpPr>
          <p:cNvPr id="13" name="Text 11"/>
          <p:cNvSpPr/>
          <p:nvPr/>
        </p:nvSpPr>
        <p:spPr>
          <a:xfrm>
            <a:off x="4480560" y="1508760"/>
            <a:ext cx="3227832"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2. Manufacturing Assessment (MA)</a:t>
            </a:r>
            <a:endParaRPr lang="en-US" sz="1300" dirty="0"/>
          </a:p>
        </p:txBody>
      </p:sp>
      <p:sp>
        <p:nvSpPr>
          <p:cNvPr id="14" name="Text 12"/>
          <p:cNvSpPr/>
          <p:nvPr/>
        </p:nvSpPr>
        <p:spPr>
          <a:xfrm>
            <a:off x="4480560" y="1828800"/>
            <a:ext cx="3227832" cy="2286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ABS Factory &amp; Works Assessment</a:t>
            </a:r>
            <a:endParaRPr lang="en-US" sz="950" dirty="0"/>
          </a:p>
        </p:txBody>
      </p:sp>
      <p:sp>
        <p:nvSpPr>
          <p:cNvPr id="15" name="Text 13"/>
          <p:cNvSpPr/>
          <p:nvPr/>
        </p:nvSpPr>
        <p:spPr>
          <a:xfrm>
            <a:off x="4480560" y="2148840"/>
            <a:ext cx="3227832" cy="274320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Assessment of factory production and quality control processes.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Applies to Clean Electric (BMS/modules) and VFCPL (pack assembly).</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Requires ISO 9001:2015 certified quality management system.</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Requires annual surveillance plant audits by attending surveyor.</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Guarantees manufactured units reproduce the assessed design.</a:t>
            </a:r>
            <a:endParaRPr lang="en-US" sz="1000" dirty="0"/>
          </a:p>
        </p:txBody>
      </p:sp>
      <p:sp>
        <p:nvSpPr>
          <p:cNvPr id="16" name="Shape 14"/>
          <p:cNvSpPr/>
          <p:nvPr/>
        </p:nvSpPr>
        <p:spPr>
          <a:xfrm>
            <a:off x="8138160" y="1371600"/>
            <a:ext cx="3593592" cy="3657600"/>
          </a:xfrm>
          <a:prstGeom prst="rect">
            <a:avLst/>
          </a:prstGeom>
          <a:solidFill>
            <a:srgbClr val="111C30"/>
          </a:solidFill>
          <a:ln w="12700">
            <a:solidFill>
              <a:srgbClr val="223252"/>
            </a:solidFill>
            <a:prstDash val="solid"/>
          </a:ln>
        </p:spPr>
      </p:sp>
      <p:sp>
        <p:nvSpPr>
          <p:cNvPr id="17" name="Text 15"/>
          <p:cNvSpPr/>
          <p:nvPr/>
        </p:nvSpPr>
        <p:spPr>
          <a:xfrm>
            <a:off x="8321040" y="1508760"/>
            <a:ext cx="3227832"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3. Type Approval &amp; Unit Cert</a:t>
            </a:r>
            <a:endParaRPr lang="en-US" sz="1300" dirty="0"/>
          </a:p>
        </p:txBody>
      </p:sp>
      <p:sp>
        <p:nvSpPr>
          <p:cNvPr id="18" name="Text 16"/>
          <p:cNvSpPr/>
          <p:nvPr/>
        </p:nvSpPr>
        <p:spPr>
          <a:xfrm>
            <a:off x="8321040" y="1828800"/>
            <a:ext cx="3227832" cy="2286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ABS Type Approval = PDA + MA Combined</a:t>
            </a:r>
            <a:endParaRPr lang="en-US" sz="950" dirty="0"/>
          </a:p>
        </p:txBody>
      </p:sp>
      <p:sp>
        <p:nvSpPr>
          <p:cNvPr id="19" name="Text 17"/>
          <p:cNvSpPr/>
          <p:nvPr/>
        </p:nvSpPr>
        <p:spPr>
          <a:xfrm>
            <a:off x="8321040" y="2148840"/>
            <a:ext cx="3227832" cy="274320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ABS Type Approval: Granted when PDA + MA are completed together.</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Allows off-the-shelf procurement for shipyards without repeat reviews.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Unit Certification: Testing the physical delivered ship units at the manufacturer with an ABS surveyor.</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Generic product assessment does not settle every installation condition.</a:t>
            </a:r>
            <a:endParaRPr lang="en-US" sz="1000" dirty="0"/>
          </a:p>
        </p:txBody>
      </p:sp>
      <p:sp>
        <p:nvSpPr>
          <p:cNvPr id="20" name="Shape 18"/>
          <p:cNvSpPr/>
          <p:nvPr/>
        </p:nvSpPr>
        <p:spPr>
          <a:xfrm>
            <a:off x="457200" y="5212080"/>
            <a:ext cx="11274552" cy="914400"/>
          </a:xfrm>
          <a:prstGeom prst="rect">
            <a:avLst/>
          </a:prstGeom>
          <a:solidFill>
            <a:srgbClr val="0B1A2C"/>
          </a:solidFill>
          <a:ln w="12700">
            <a:solidFill>
              <a:srgbClr val="38BDF8"/>
            </a:solidFill>
            <a:prstDash val="solid"/>
          </a:ln>
        </p:spPr>
      </p:sp>
      <p:sp>
        <p:nvSpPr>
          <p:cNvPr id="21" name="Text 19"/>
          <p:cNvSpPr/>
          <p:nvPr/>
        </p:nvSpPr>
        <p:spPr>
          <a:xfrm>
            <a:off x="640080" y="5303520"/>
            <a:ext cx="10881360" cy="73152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PURCHASING &amp; OEM SOURCING DISTINCTION (Section 3 of Marine BESS.docx):
</a:t>
            </a:r>
            <a:pPr indent="0" marL="0">
              <a:buNone/>
            </a:pPr>
            <a:r>
              <a:rPr lang="en-US" sz="1000" dirty="0">
                <a:solidFill>
                  <a:srgbClr val="F8FAFC"/>
                </a:solidFill>
                <a:latin typeface="Arial" pitchFamily="34" charset="0"/>
                <a:ea typeface="Arial" pitchFamily="34" charset="-122"/>
                <a:cs typeface="Arial" pitchFamily="34" charset="-120"/>
              </a:rPr>
              <a:t>A logo or certificate front page cannot establish whether your complete offered configuration is covered. Request the certificate, schedule, model list, and site details. Because VFCPL imports cells and builds modules/racks in India, the application must identify OEM design ownership (Clean Electric) vs. secondary pack manufacturing (VFCPL).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4 | BASELINE STANDARDS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What Each Standard Proves: IEC 62619, IEC 62620, UN 38.3 &amp; UL (Section 5)</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18638"/>
                <a:gridCol w="2818638"/>
                <a:gridCol w="2818638"/>
                <a:gridCol w="2818638"/>
              </a:tblGrid>
              <a:tr h="320040">
                <a:tc>
                  <a:txBody>
                    <a:bodyPr/>
                    <a:lstStyle/>
                    <a:p>
                      <a:pPr indent="0" marL="0">
                        <a:buNone/>
                      </a:pPr>
                      <a:r>
                        <a:rPr lang="en-US" sz="1000" b="1" dirty="0">
                          <a:solidFill>
                            <a:srgbClr val="38BDF8"/>
                          </a:solidFill>
                          <a:latin typeface="Arial" pitchFamily="34" charset="0"/>
                          <a:ea typeface="Arial" pitchFamily="34" charset="-122"/>
                          <a:cs typeface="Arial" pitchFamily="34" charset="-120"/>
                        </a:rPr>
                        <a:t>Standard / Evidence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Primary Scope &amp; Purpose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How to Use in VFCPL Project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Class Evidence Status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822960">
                <a:tc>
                  <a:txBody>
                    <a:bodyPr/>
                    <a:lstStyle/>
                    <a:p>
                      <a:pPr indent="0" marL="0">
                        <a:buNone/>
                      </a:pPr>
                      <a:r>
                        <a:rPr lang="en-US" sz="1000" b="1" dirty="0">
                          <a:solidFill>
                            <a:srgbClr val="F8FAFC"/>
                          </a:solidFill>
                          <a:latin typeface="Arial" pitchFamily="34" charset="0"/>
                          <a:ea typeface="Arial" pitchFamily="34" charset="-122"/>
                          <a:cs typeface="Arial" pitchFamily="34" charset="-120"/>
                        </a:rPr>
                        <a:t>IEC 62619:2022</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Industrial lithium cell/battery safety (drop, impact, short circuit, thermal abuse). Required by ABS Sec 2/1.2 &amp; IRS CN Rev.1 §1.4.c.</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Obtain full test reports identifying tested cell and assembly; verify certificate scope matches supplied 307 Ah product.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ACCEPTED (Clean Electric report)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822960">
                <a:tc>
                  <a:txBody>
                    <a:bodyPr/>
                    <a:lstStyle/>
                    <a:p>
                      <a:pPr indent="0" marL="0">
                        <a:buNone/>
                      </a:pPr>
                      <a:r>
                        <a:rPr lang="en-US" sz="1000" b="1" dirty="0">
                          <a:solidFill>
                            <a:srgbClr val="F8FAFC"/>
                          </a:solidFill>
                          <a:latin typeface="Arial" pitchFamily="34" charset="0"/>
                          <a:ea typeface="Arial" pitchFamily="34" charset="-122"/>
                          <a:cs typeface="Arial" pitchFamily="34" charset="-120"/>
                        </a:rPr>
                        <a:t>IEC 62620:2014+AMD1:2023</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Industrial cell/battery marking and performance requirements (capacity verification, endurance, discharge rates).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Connect declared capacity (307.12 Ah) and test configuration to marketed model. Record the 2023 amendment explicitly.</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ACCEPTED (Marking &amp; Rating confirmed)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UN 38.3 Evidence</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Transport-related battery design testing (T1-T8 altitude, thermal, vibration, shock, short circuit).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Maintain separately from marine installation approval dossier. Do NOT present as proof of complete onboard operational safety.</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ACCEPTED (Transport dossier)</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UL 9540A Results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Thermal runaway / fire propagation characterization (cell, module, unit, installation levels).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Use as supporting hazard evidence; obtain class agreement on equivalence to specified class test.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SUBMITTED (Thermal bench data)</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
        <p:nvSpPr>
          <p:cNvPr id="9" name="Shape 6"/>
          <p:cNvSpPr/>
          <p:nvPr/>
        </p:nvSpPr>
        <p:spPr>
          <a:xfrm>
            <a:off x="457200" y="5257800"/>
            <a:ext cx="11274552" cy="868680"/>
          </a:xfrm>
          <a:prstGeom prst="rect">
            <a:avLst/>
          </a:prstGeom>
          <a:solidFill>
            <a:srgbClr val="1A1708"/>
          </a:solidFill>
          <a:ln w="12700">
            <a:solidFill>
              <a:srgbClr val="F59E0B"/>
            </a:solidFill>
            <a:prstDash val="solid"/>
          </a:ln>
        </p:spPr>
      </p:sp>
      <p:sp>
        <p:nvSpPr>
          <p:cNvPr id="10" name="Text 7"/>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CHANGE CONTROL MANDATE (ABS Section 1/7 &amp; IRS CN Rev.1 Section 1.10): </a:t>
            </a:r>
            <a:pPr indent="0" marL="0">
              <a:buNone/>
            </a:pPr>
            <a:r>
              <a:rPr lang="en-US" sz="1000" dirty="0">
                <a:solidFill>
                  <a:srgbClr val="F8FAFC"/>
                </a:solidFill>
                <a:latin typeface="Arial" pitchFamily="34" charset="0"/>
                <a:ea typeface="Arial" pitchFamily="34" charset="-122"/>
                <a:cs typeface="Arial" pitchFamily="34" charset="-120"/>
              </a:rPr>
              <a:t>Confirm no substantial change has been made to the cell active material, internal chemistry, casing dimensions, or manufacturing site since the test certificates were issued. Any such alteration invalidates the Type Approval unless submitted and approved in advance.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5 | THERMAL SAFETY &amp; RUNAWAY</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Thermal-Runaway Evidence: The 7 Review Questions (Section 8)</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6217920" cy="4754880"/>
          </a:xfrm>
          <a:prstGeom prst="rect">
            <a:avLst/>
          </a:prstGeom>
          <a:solidFill>
            <a:srgbClr val="111C30"/>
          </a:solidFill>
          <a:ln w="12700">
            <a:solidFill>
              <a:srgbClr val="223252"/>
            </a:solidFill>
            <a:prstDash val="solid"/>
          </a:ln>
        </p:spPr>
      </p:sp>
      <p:sp>
        <p:nvSpPr>
          <p:cNvPr id="9" name="Text 7"/>
          <p:cNvSpPr/>
          <p:nvPr/>
        </p:nvSpPr>
        <p:spPr>
          <a:xfrm>
            <a:off x="640080" y="1463040"/>
            <a:ext cx="585216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The 7 Review Questions to Make Reports Usable</a:t>
            </a:r>
            <a:endParaRPr lang="en-US" sz="1300" dirty="0"/>
          </a:p>
        </p:txBody>
      </p:sp>
      <p:sp>
        <p:nvSpPr>
          <p:cNvPr id="10" name="Text 8"/>
          <p:cNvSpPr/>
          <p:nvPr/>
        </p:nvSpPr>
        <p:spPr>
          <a:xfrm>
            <a:off x="640080" y="1874520"/>
            <a:ext cx="5852160" cy="4023360"/>
          </a:xfrm>
          <a:prstGeom prst="rect">
            <a:avLst/>
          </a:prstGeom>
          <a:noFill/>
          <a:ln/>
        </p:spPr>
        <p:txBody>
          <a:bodyPr wrap="square" rtlCol="0" anchor="ctr"/>
          <a:lstStyle/>
          <a:p>
            <a:pPr indent="0" marL="0">
              <a:lnSpc>
                <a:spcPts val="1600"/>
              </a:lnSpc>
              <a:buNone/>
            </a:pPr>
            <a:r>
              <a:rPr lang="en-US" sz="950" b="1" dirty="0">
                <a:solidFill>
                  <a:srgbClr val="38BDF8"/>
                </a:solidFill>
                <a:latin typeface="Arial" pitchFamily="34" charset="0"/>
                <a:ea typeface="Arial" pitchFamily="34" charset="-122"/>
                <a:cs typeface="Arial" pitchFamily="34" charset="-120"/>
              </a:rPr>
              <a:t>1. Cell Construction Authenticity: </a:t>
            </a:r>
            <a:pPr indent="0" marL="0">
              <a:lnSpc>
                <a:spcPts val="1600"/>
              </a:lnSpc>
              <a:buNone/>
            </a:pPr>
            <a:r>
              <a:rPr lang="en-US" sz="950" dirty="0">
                <a:solidFill>
                  <a:srgbClr val="F8FAFC"/>
                </a:solidFill>
                <a:latin typeface="Arial" pitchFamily="34" charset="0"/>
                <a:ea typeface="Arial" pitchFamily="34" charset="-122"/>
                <a:cs typeface="Arial" pitchFamily="34" charset="-120"/>
              </a:rPr>
              <a:t>Does the tested cell have exactly the same construction as the purchased cell?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2. SOC &amp; Conditioning: </a:t>
            </a:r>
            <a:pPr indent="0" marL="0">
              <a:lnSpc>
                <a:spcPts val="1600"/>
              </a:lnSpc>
              <a:buNone/>
            </a:pPr>
            <a:r>
              <a:rPr lang="en-US" sz="950" dirty="0">
                <a:solidFill>
                  <a:srgbClr val="F8FAFC"/>
                </a:solidFill>
                <a:latin typeface="Arial" pitchFamily="34" charset="0"/>
                <a:ea typeface="Arial" pitchFamily="34" charset="-122"/>
                <a:cs typeface="Arial" pitchFamily="34" charset="-120"/>
              </a:rPr>
              <a:t>Does report identify SOC (100%), conditioning, initiating method, and sample orientation?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3. Worst-Case Arrangement: </a:t>
            </a:r>
            <a:pPr indent="0" marL="0">
              <a:lnSpc>
                <a:spcPts val="1600"/>
              </a:lnSpc>
              <a:buNone/>
            </a:pPr>
            <a:r>
              <a:rPr lang="en-US" sz="950" dirty="0">
                <a:solidFill>
                  <a:srgbClr val="F8FAFC"/>
                </a:solidFill>
                <a:latin typeface="Arial" pitchFamily="34" charset="0"/>
                <a:ea typeface="Arial" pitchFamily="34" charset="-122"/>
                <a:cs typeface="Arial" pitchFamily="34" charset="-120"/>
              </a:rPr>
              <a:t>Was the tested assembly representative of the most challenging offered arrangement?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4. Active Systems State: </a:t>
            </a:r>
            <a:pPr indent="0" marL="0">
              <a:lnSpc>
                <a:spcPts val="1600"/>
              </a:lnSpc>
              <a:buNone/>
            </a:pPr>
            <a:r>
              <a:rPr lang="en-US" sz="950" dirty="0">
                <a:solidFill>
                  <a:srgbClr val="F8FAFC"/>
                </a:solidFill>
                <a:latin typeface="Arial" pitchFamily="34" charset="0"/>
                <a:ea typeface="Arial" pitchFamily="34" charset="-122"/>
                <a:cs typeface="Arial" pitchFamily="34" charset="-120"/>
              </a:rPr>
              <a:t>Were cooling (pump P1) and protective systems running, failed, or unavailable?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5. Propagation Containment: </a:t>
            </a:r>
            <a:pPr indent="0" marL="0">
              <a:lnSpc>
                <a:spcPts val="1600"/>
              </a:lnSpc>
              <a:buNone/>
            </a:pPr>
            <a:r>
              <a:rPr lang="en-US" sz="950" dirty="0">
                <a:solidFill>
                  <a:srgbClr val="F8FAFC"/>
                </a:solidFill>
                <a:latin typeface="Arial" pitchFamily="34" charset="0"/>
                <a:ea typeface="Arial" pitchFamily="34" charset="-122"/>
                <a:cs typeface="Arial" pitchFamily="34" charset="-120"/>
              </a:rPr>
              <a:t>What happened to adjacent cells/modules, enclosure pressure, and gas release?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6. Measured Gas/Heat Data: </a:t>
            </a:r>
            <a:pPr indent="0" marL="0">
              <a:lnSpc>
                <a:spcPts val="1600"/>
              </a:lnSpc>
              <a:buNone/>
            </a:pPr>
            <a:r>
              <a:rPr lang="en-US" sz="950" dirty="0">
                <a:solidFill>
                  <a:srgbClr val="F8FAFC"/>
                </a:solidFill>
                <a:latin typeface="Arial" pitchFamily="34" charset="0"/>
                <a:ea typeface="Arial" pitchFamily="34" charset="-122"/>
                <a:cs typeface="Arial" pitchFamily="34" charset="-120"/>
              </a:rPr>
              <a:t>Are measured gas/heat data sufficient for the integrator's ventilation and fire analysis?
</a:t>
            </a:r>
            <a:pPr indent="0" marL="0">
              <a:lnSpc>
                <a:spcPts val="1600"/>
              </a:lnSpc>
              <a:buNone/>
            </a:pPr>
            <a:r>
              <a:rPr lang="en-US" sz="950" b="1" dirty="0">
                <a:solidFill>
                  <a:srgbClr val="38BDF8"/>
                </a:solidFill>
                <a:latin typeface="Arial" pitchFamily="34" charset="0"/>
                <a:ea typeface="Arial" pitchFamily="34" charset="-122"/>
                <a:cs typeface="Arial" pitchFamily="34" charset="-120"/>
              </a:rPr>
              <a:t>7. Invalidation Boundaries: </a:t>
            </a:r>
            <a:pPr indent="0" marL="0">
              <a:lnSpc>
                <a:spcPts val="1600"/>
              </a:lnSpc>
              <a:buNone/>
            </a:pPr>
            <a:r>
              <a:rPr lang="en-US" sz="950" dirty="0">
                <a:solidFill>
                  <a:srgbClr val="F8FAFC"/>
                </a:solidFill>
                <a:latin typeface="Arial" pitchFamily="34" charset="0"/>
                <a:ea typeface="Arial" pitchFamily="34" charset="-122"/>
                <a:cs typeface="Arial" pitchFamily="34" charset="-120"/>
              </a:rPr>
              <a:t>Which changes in spacing, barriers, enclosure, firmware, or coolant invalidate the inference?</a:t>
            </a:r>
            <a:endParaRPr lang="en-US" sz="950" dirty="0"/>
          </a:p>
        </p:txBody>
      </p:sp>
      <p:sp>
        <p:nvSpPr>
          <p:cNvPr id="11" name="Shape 9"/>
          <p:cNvSpPr/>
          <p:nvPr/>
        </p:nvSpPr>
        <p:spPr>
          <a:xfrm>
            <a:off x="6858000" y="1325880"/>
            <a:ext cx="4873752" cy="4754880"/>
          </a:xfrm>
          <a:prstGeom prst="rect">
            <a:avLst/>
          </a:prstGeom>
          <a:solidFill>
            <a:srgbClr val="111C30"/>
          </a:solidFill>
          <a:ln w="12700">
            <a:solidFill>
              <a:srgbClr val="223252"/>
            </a:solidFill>
            <a:prstDash val="solid"/>
          </a:ln>
        </p:spPr>
      </p:sp>
      <p:sp>
        <p:nvSpPr>
          <p:cNvPr id="12" name="Text 10"/>
          <p:cNvSpPr/>
          <p:nvPr/>
        </p:nvSpPr>
        <p:spPr>
          <a:xfrm>
            <a:off x="7040880" y="1463040"/>
            <a:ext cx="4507992"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Class Propagation Rules &amp; Immersion Physics</a:t>
            </a:r>
            <a:endParaRPr lang="en-US" sz="1300" dirty="0"/>
          </a:p>
        </p:txBody>
      </p:sp>
      <p:sp>
        <p:nvSpPr>
          <p:cNvPr id="13" name="Text 11"/>
          <p:cNvSpPr/>
          <p:nvPr/>
        </p:nvSpPr>
        <p:spPr>
          <a:xfrm>
            <a:off x="7040880" y="1874520"/>
            <a:ext cx="4507992" cy="4023360"/>
          </a:xfrm>
          <a:prstGeom prst="rect">
            <a:avLst/>
          </a:prstGeom>
          <a:noFill/>
          <a:ln/>
        </p:spPr>
        <p:txBody>
          <a:bodyPr wrap="square" rtlCol="0" anchor="ctr"/>
          <a:lstStyle/>
          <a:p>
            <a:pPr indent="0" marL="0">
              <a:lnSpc>
                <a:spcPts val="1600"/>
              </a:lnSpc>
              <a:buNone/>
            </a:pPr>
            <a:r>
              <a:rPr lang="en-US" sz="950" b="1" dirty="0">
                <a:solidFill>
                  <a:srgbClr val="38BDF8"/>
                </a:solidFill>
                <a:latin typeface="Arial" pitchFamily="34" charset="0"/>
                <a:ea typeface="Arial" pitchFamily="34" charset="-122"/>
                <a:cs typeface="Arial" pitchFamily="34" charset="-120"/>
              </a:rPr>
              <a:t>ABS Section 2/2.1 Mandate:
</a:t>
            </a:r>
            <a:pPr indent="0" marL="0">
              <a:lnSpc>
                <a:spcPts val="1600"/>
              </a:lnSpc>
              <a:buNone/>
            </a:pPr>
            <a:r>
              <a:rPr lang="en-US" sz="950" dirty="0">
                <a:solidFill>
                  <a:srgbClr val="F8FAFC"/>
                </a:solidFill>
                <a:latin typeface="Arial" pitchFamily="34" charset="0"/>
                <a:ea typeface="Arial" pitchFamily="34" charset="-122"/>
                <a:cs typeface="Arial" pitchFamily="34" charset="-120"/>
              </a:rPr>
              <a:t>The battery system must prevent cell-to-cell propagation, or at minimum demonstrate module-to-module containment with zero external flaming and casing temperature &lt; 100°C.
</a:t>
            </a:r>
            <a:pPr indent="0" marL="0">
              <a:lnSpc>
                <a:spcPts val="1600"/>
              </a:lnSpc>
              <a:buNone/>
            </a:pPr>
            <a:r>
              <a:rPr lang="en-US" sz="950" b="1" dirty="0">
                <a:solidFill>
                  <a:srgbClr val="F59E0B"/>
                </a:solidFill>
                <a:latin typeface="Arial" pitchFamily="34" charset="0"/>
                <a:ea typeface="Arial" pitchFamily="34" charset="-122"/>
                <a:cs typeface="Arial" pitchFamily="34" charset="-120"/>
              </a:rPr>
              <a:t>UL 9540 vs. UL 9540A Distinction:
</a:t>
            </a:r>
            <a:pPr indent="0" marL="0">
              <a:lnSpc>
                <a:spcPts val="1600"/>
              </a:lnSpc>
              <a:buNone/>
            </a:pPr>
            <a:r>
              <a:rPr lang="en-US" sz="950" dirty="0">
                <a:solidFill>
                  <a:srgbClr val="F8FAFC"/>
                </a:solidFill>
                <a:latin typeface="Arial" pitchFamily="34" charset="0"/>
                <a:ea typeface="Arial" pitchFamily="34" charset="-122"/>
                <a:cs typeface="Arial" pitchFamily="34" charset="-120"/>
              </a:rPr>
              <a:t>UL distinguishes UL 9540A test method from UL 9540 complete-system certification criteria. A report from one does NOT justify describing a product as certified to the other.
</a:t>
            </a:r>
            <a:pPr indent="0" marL="0">
              <a:lnSpc>
                <a:spcPts val="1600"/>
              </a:lnSpc>
              <a:buNone/>
            </a:pPr>
            <a:r>
              <a:rPr lang="en-US" sz="950" b="1" dirty="0">
                <a:solidFill>
                  <a:srgbClr val="10B981"/>
                </a:solidFill>
                <a:latin typeface="Arial" pitchFamily="34" charset="0"/>
                <a:ea typeface="Arial" pitchFamily="34" charset="-122"/>
                <a:cs typeface="Arial" pitchFamily="34" charset="-120"/>
              </a:rPr>
              <a:t>VFCPL Direct Immersion Advantage:
</a:t>
            </a:r>
            <a:pPr indent="0" marL="0">
              <a:lnSpc>
                <a:spcPts val="1600"/>
              </a:lnSpc>
              <a:buNone/>
            </a:pPr>
            <a:r>
              <a:rPr lang="en-US" sz="950" dirty="0">
                <a:solidFill>
                  <a:srgbClr val="F8FAFC"/>
                </a:solidFill>
                <a:latin typeface="Arial" pitchFamily="34" charset="0"/>
                <a:ea typeface="Arial" pitchFamily="34" charset="-122"/>
                <a:cs typeface="Arial" pitchFamily="34" charset="-120"/>
              </a:rPr>
              <a:t>The dielectric fluid conducts heat away immediately, suppressing runaway trigger points. In bench tests, zero cell-to-cell propagation occurred across adjacent LFP cells.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6 | IMMERSION COOLING ENGINEERING</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Liquid &amp; Immersion Cooling: Hydrotest &amp; Failure Detection (Section 2 &amp; 4)</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18638"/>
                <a:gridCol w="2818638"/>
                <a:gridCol w="2818638"/>
                <a:gridCol w="2818638"/>
              </a:tblGrid>
              <a:tr h="320040">
                <a:tc>
                  <a:txBody>
                    <a:bodyPr/>
                    <a:lstStyle/>
                    <a:p>
                      <a:pPr indent="0" marL="0">
                        <a:buNone/>
                      </a:pPr>
                      <a:r>
                        <a:rPr lang="en-US" sz="1000" b="1" dirty="0">
                          <a:solidFill>
                            <a:srgbClr val="38BDF8"/>
                          </a:solidFill>
                          <a:latin typeface="Arial" pitchFamily="34" charset="0"/>
                          <a:ea typeface="Arial" pitchFamily="34" charset="-122"/>
                          <a:cs typeface="Arial" pitchFamily="34" charset="-120"/>
                        </a:rPr>
                        <a:t>Engineering Checkpoint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ABS Dec 2025 Rules (Sec 2/2.4 &amp; 3/2)</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IRS CN Rev.1 / GL Rev.2 Requirements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1000" b="1" dirty="0">
                          <a:solidFill>
                            <a:srgbClr val="38BDF8"/>
                          </a:solidFill>
                          <a:latin typeface="Arial" pitchFamily="34" charset="0"/>
                          <a:ea typeface="Arial" pitchFamily="34" charset="-122"/>
                          <a:cs typeface="Arial" pitchFamily="34" charset="-120"/>
                        </a:rPr>
                        <a:t>VFCPL-MEP-001 Baseline &amp; Status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822960">
                <a:tc>
                  <a:txBody>
                    <a:bodyPr/>
                    <a:lstStyle/>
                    <a:p>
                      <a:pPr indent="0" marL="0">
                        <a:buNone/>
                      </a:pPr>
                      <a:r>
                        <a:rPr lang="en-US" sz="1000" b="1" dirty="0">
                          <a:solidFill>
                            <a:srgbClr val="F8FAFC"/>
                          </a:solidFill>
                          <a:latin typeface="Arial" pitchFamily="34" charset="0"/>
                          <a:ea typeface="Arial" pitchFamily="34" charset="-122"/>
                          <a:cs typeface="Arial" pitchFamily="34" charset="-120"/>
                        </a:rPr>
                        <a:t>Shop Fabrication Hydrotest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1.5 x Design Pressure for 30 minutes during manufacturing. Zero leakage permitted.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CN Rev.1 5.2.d.viii: Pressure test to verify pressure-withstanding capacity.</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GAP CLOSED: Formally standardized in VFCPL QA SOP-004 (1.50 bar, 30-min hold).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Installation Tightness Test</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Tested at 1.0 x Design Pressure following shipboard installation. Zero leak.</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GL Rev.2 §3.3.3 functional test post-installation.</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COMPLIANT: Pre-commissioning leak check procedure prior to fluid fill.</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Pipe Routing Over Live Parts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No mechanical pipe joints directly over live electrical components unless shielded.</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GL Rev.2 2.3.4: Protection against fluid ingress and leakage onto live parts.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b="1" dirty="0">
                          <a:solidFill>
                            <a:srgbClr val="10B981"/>
                          </a:solidFill>
                          <a:latin typeface="Arial" pitchFamily="34" charset="0"/>
                          <a:ea typeface="Arial" pitchFamily="34" charset="-122"/>
                          <a:cs typeface="Arial" pitchFamily="34" charset="-120"/>
                        </a:rPr>
                        <a:t>COMPLIANT: Monolithic immersion tank; no internal pipe joints. Non-conductive oil.</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731520">
                <a:tc>
                  <a:txBody>
                    <a:bodyPr/>
                    <a:lstStyle/>
                    <a:p>
                      <a:pPr indent="0" marL="0">
                        <a:buNone/>
                      </a:pPr>
                      <a:r>
                        <a:rPr lang="en-US" sz="1000" b="1" dirty="0">
                          <a:solidFill>
                            <a:srgbClr val="F8FAFC"/>
                          </a:solidFill>
                          <a:latin typeface="Arial" pitchFamily="34" charset="0"/>
                          <a:ea typeface="Arial" pitchFamily="34" charset="-122"/>
                          <a:cs typeface="Arial" pitchFamily="34" charset="-120"/>
                        </a:rPr>
                        <a:t>Cooling Failure Alarms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Loss of coolant flow or high coolant temp must raise immediate alarm at manned station.</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CN Rev.1 4.4.k &amp; GL Rev.2 2.3.9.m: Cooling failure alarm mandatory.</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COMPLIANT: Pump P1 current sensing and Delta-T thermistors (T1-T6) feed BMS.</a:t>
                      </a:r>
                      <a:endParaRPr lang="en-US" sz="10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
        <p:nvSpPr>
          <p:cNvPr id="9" name="Shape 6"/>
          <p:cNvSpPr/>
          <p:nvPr/>
        </p:nvSpPr>
        <p:spPr>
          <a:xfrm>
            <a:off x="457200" y="5257800"/>
            <a:ext cx="11274552" cy="868680"/>
          </a:xfrm>
          <a:prstGeom prst="rect">
            <a:avLst/>
          </a:prstGeom>
          <a:solidFill>
            <a:srgbClr val="0B1A2C"/>
          </a:solidFill>
          <a:ln w="12700">
            <a:solidFill>
              <a:srgbClr val="38BDF8"/>
            </a:solidFill>
            <a:prstDash val="solid"/>
          </a:ln>
        </p:spPr>
      </p:sp>
      <p:sp>
        <p:nvSpPr>
          <p:cNvPr id="10" name="Text 7"/>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AMBESS PUMP P1 CONTROL ARCHITECTURE (IRS Submission Rev A):
</a:t>
            </a:r>
            <a:pPr indent="0" marL="0">
              <a:buNone/>
            </a:pPr>
            <a:r>
              <a:rPr lang="en-US" sz="1000" dirty="0">
                <a:solidFill>
                  <a:srgbClr val="F8FAFC"/>
                </a:solidFill>
                <a:latin typeface="Arial" pitchFamily="34" charset="0"/>
                <a:ea typeface="Arial" pitchFamily="34" charset="-122"/>
                <a:cs typeface="Arial" pitchFamily="34" charset="-120"/>
              </a:rPr>
              <a:t>Closed hydraulic circuit: pack immersion channel -&gt; circulating pump P1 -&gt; direct return. Pump operates on dual interlock: Condition A (Fast charging current threshold) and Condition B (Delta-T &gt; 2.5°C across T1-T6 thermistors), equalizing cell temperatures and delivering 89.65% SOH retention over 818 cycles.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7 | COOLANT FLUID SPECIFICATIONS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Dielectric Coolant Fluid: Electrical, Fire &amp; Environmental Properties</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71600"/>
            <a:ext cx="3593592" cy="3657600"/>
          </a:xfrm>
          <a:prstGeom prst="rect">
            <a:avLst/>
          </a:prstGeom>
          <a:solidFill>
            <a:srgbClr val="111C30"/>
          </a:solidFill>
          <a:ln w="12700">
            <a:solidFill>
              <a:srgbClr val="223252"/>
            </a:solidFill>
            <a:prstDash val="solid"/>
          </a:ln>
        </p:spPr>
      </p:sp>
      <p:sp>
        <p:nvSpPr>
          <p:cNvPr id="9" name="Text 7"/>
          <p:cNvSpPr/>
          <p:nvPr/>
        </p:nvSpPr>
        <p:spPr>
          <a:xfrm>
            <a:off x="640080" y="1554480"/>
            <a:ext cx="3227832" cy="32004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Electrical Insulation</a:t>
            </a:r>
            <a:endParaRPr lang="en-US" sz="1400" dirty="0"/>
          </a:p>
        </p:txBody>
      </p:sp>
      <p:sp>
        <p:nvSpPr>
          <p:cNvPr id="10" name="Text 8"/>
          <p:cNvSpPr/>
          <p:nvPr/>
        </p:nvSpPr>
        <p:spPr>
          <a:xfrm>
            <a:off x="64008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Dielectric Breakdown: &gt; 50 kV (IEC 60156 / ASTM D877).</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Volume Resistivity: &gt; 10^12 Ohm-m at 25°C.</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Prevents arcing across live busbars up to 1000 VDC even during dynamic vessel motion.</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Eliminates conductive path hazards common to water-glycol cold plates.</a:t>
            </a:r>
            <a:endParaRPr lang="en-US" sz="1000" dirty="0"/>
          </a:p>
        </p:txBody>
      </p:sp>
      <p:sp>
        <p:nvSpPr>
          <p:cNvPr id="11" name="Shape 9"/>
          <p:cNvSpPr/>
          <p:nvPr/>
        </p:nvSpPr>
        <p:spPr>
          <a:xfrm>
            <a:off x="4297680" y="1371600"/>
            <a:ext cx="3593592" cy="3657600"/>
          </a:xfrm>
          <a:prstGeom prst="rect">
            <a:avLst/>
          </a:prstGeom>
          <a:solidFill>
            <a:srgbClr val="111C30"/>
          </a:solidFill>
          <a:ln w="12700">
            <a:solidFill>
              <a:srgbClr val="223252"/>
            </a:solidFill>
            <a:prstDash val="solid"/>
          </a:ln>
        </p:spPr>
      </p:sp>
      <p:sp>
        <p:nvSpPr>
          <p:cNvPr id="12" name="Text 10"/>
          <p:cNvSpPr/>
          <p:nvPr/>
        </p:nvSpPr>
        <p:spPr>
          <a:xfrm>
            <a:off x="4480560" y="1554480"/>
            <a:ext cx="3227832" cy="32004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Thermal &amp; Fire Safety</a:t>
            </a:r>
            <a:endParaRPr lang="en-US" sz="1400" dirty="0"/>
          </a:p>
        </p:txBody>
      </p:sp>
      <p:sp>
        <p:nvSpPr>
          <p:cNvPr id="13" name="Text 11"/>
          <p:cNvSpPr/>
          <p:nvPr/>
        </p:nvSpPr>
        <p:spPr>
          <a:xfrm>
            <a:off x="448056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Flash Point: &gt; 160°C (ISO 2719 Closed Cup).</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Fire Point: &gt; 190°C (ISO 2592 Open Cup).</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Auto-ignition: &gt; 350°C.</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Kinematic Viscosity: &lt; 35 mm²/s at 40°C; &lt; 3000 mm²/s at -20°C (ASTM D7042).</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Cold-start pumping validated down to -20°C.</a:t>
            </a:r>
            <a:endParaRPr lang="en-US" sz="1000" dirty="0"/>
          </a:p>
        </p:txBody>
      </p:sp>
      <p:sp>
        <p:nvSpPr>
          <p:cNvPr id="14" name="Shape 12"/>
          <p:cNvSpPr/>
          <p:nvPr/>
        </p:nvSpPr>
        <p:spPr>
          <a:xfrm>
            <a:off x="8138160" y="1371600"/>
            <a:ext cx="3593592" cy="3657600"/>
          </a:xfrm>
          <a:prstGeom prst="rect">
            <a:avLst/>
          </a:prstGeom>
          <a:solidFill>
            <a:srgbClr val="111C30"/>
          </a:solidFill>
          <a:ln w="12700">
            <a:solidFill>
              <a:srgbClr val="223252"/>
            </a:solidFill>
            <a:prstDash val="solid"/>
          </a:ln>
        </p:spPr>
      </p:sp>
      <p:sp>
        <p:nvSpPr>
          <p:cNvPr id="15" name="Text 13"/>
          <p:cNvSpPr/>
          <p:nvPr/>
        </p:nvSpPr>
        <p:spPr>
          <a:xfrm>
            <a:off x="8321040" y="1554480"/>
            <a:ext cx="3227832" cy="32004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Marine Environmental &amp; Life</a:t>
            </a:r>
            <a:endParaRPr lang="en-US" sz="1400" dirty="0"/>
          </a:p>
        </p:txBody>
      </p:sp>
      <p:sp>
        <p:nvSpPr>
          <p:cNvPr id="16" name="Text 14"/>
          <p:cNvSpPr/>
          <p:nvPr/>
        </p:nvSpPr>
        <p:spPr>
          <a:xfrm>
            <a:off x="832104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Biodegradability: Readily biodegradable (&gt;60% in 28 days, OECD 301B).</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Aquatic Toxicity: Non-toxic to marine organisms (OECD 201, 202, 203).</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Material Compatibility: Zero chemical degradation on NBR/FKM gaskets and copper busbars over 10-year life.</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Non-hazardous for shipboard handling and storage.</a:t>
            </a:r>
            <a:endParaRPr lang="en-US" sz="1000" dirty="0"/>
          </a:p>
        </p:txBody>
      </p:sp>
      <p:sp>
        <p:nvSpPr>
          <p:cNvPr id="17" name="Shape 15"/>
          <p:cNvSpPr/>
          <p:nvPr/>
        </p:nvSpPr>
        <p:spPr>
          <a:xfrm>
            <a:off x="457200" y="5257800"/>
            <a:ext cx="11274552" cy="868680"/>
          </a:xfrm>
          <a:prstGeom prst="rect">
            <a:avLst/>
          </a:prstGeom>
          <a:solidFill>
            <a:srgbClr val="1A1708"/>
          </a:solidFill>
          <a:ln w="12700">
            <a:solidFill>
              <a:srgbClr val="F59E0B"/>
            </a:solidFill>
            <a:prstDash val="solid"/>
          </a:ln>
        </p:spPr>
      </p:sp>
      <p:sp>
        <p:nvSpPr>
          <p:cNvPr id="18" name="Text 16"/>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LONG-TERM COMPATIBILITY MANDATE (ABS Section 2/2.5 &amp; IRS CN Rev.1 §1.4.d):
</a:t>
            </a:r>
            <a:pPr indent="0" marL="0">
              <a:buNone/>
            </a:pPr>
            <a:r>
              <a:rPr lang="en-US" sz="1000" dirty="0">
                <a:solidFill>
                  <a:srgbClr val="F8FAFC"/>
                </a:solidFill>
                <a:latin typeface="Arial" pitchFamily="34" charset="0"/>
                <a:ea typeface="Arial" pitchFamily="34" charset="-122"/>
                <a:cs typeface="Arial" pitchFamily="34" charset="-120"/>
              </a:rPr>
              <a:t>Both ABS and IRS mandate verification that the dielectric fluid exhibits zero chemical degradation, swelling, or extraction on internal gaskets (NBR/FKM), wire insulation, potting resins, and cell sealants across the 10-year service life. Test reports per ASTM D471 are compiled in Folder 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8 | BMS SAFETY &amp; FIRMWARE</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BMS Safety Architecture: Critical Overrides Prohibited (Section 2 &amp; 4)</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3749040"/>
          </a:xfrm>
          <a:prstGeom prst="rect">
            <a:avLst/>
          </a:prstGeom>
          <a:solidFill>
            <a:srgbClr val="111C30"/>
          </a:solidFill>
          <a:ln w="12700">
            <a:solidFill>
              <a:srgbClr val="223252"/>
            </a:solidFill>
            <a:prstDash val="solid"/>
          </a:ln>
        </p:spPr>
      </p:sp>
      <p:sp>
        <p:nvSpPr>
          <p:cNvPr id="9" name="Text 7"/>
          <p:cNvSpPr/>
          <p:nvPr/>
        </p:nvSpPr>
        <p:spPr>
          <a:xfrm>
            <a:off x="640080" y="146304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ABS BMS Rules (Section 2/5)</a:t>
            </a:r>
            <a:endParaRPr lang="en-US" sz="1300" dirty="0"/>
          </a:p>
        </p:txBody>
      </p:sp>
      <p:sp>
        <p:nvSpPr>
          <p:cNvPr id="10" name="Text 8"/>
          <p:cNvSpPr/>
          <p:nvPr/>
        </p:nvSpPr>
        <p:spPr>
          <a:xfrm>
            <a:off x="640080" y="1874520"/>
            <a:ext cx="5029200" cy="3017520"/>
          </a:xfrm>
          <a:prstGeom prst="rect">
            <a:avLst/>
          </a:prstGeom>
          <a:noFill/>
          <a:ln/>
        </p:spPr>
        <p:txBody>
          <a:bodyPr wrap="square" rtlCol="0" anchor="ctr"/>
          <a:lstStyle/>
          <a:p>
            <a:pPr indent="0" marL="0">
              <a:lnSpc>
                <a:spcPts val="1600"/>
              </a:lnSpc>
              <a:buNone/>
            </a:pPr>
            <a:r>
              <a:rPr lang="en-US" sz="1000" b="1" dirty="0">
                <a:solidFill>
                  <a:srgbClr val="F59E0B"/>
                </a:solidFill>
                <a:latin typeface="Arial" pitchFamily="34" charset="0"/>
                <a:ea typeface="Arial" pitchFamily="34" charset="-122"/>
                <a:cs typeface="Arial" pitchFamily="34" charset="-120"/>
              </a:rPr>
              <a:t>• Critical Overrides Forbidden (Sec 2/5.1):
</a:t>
            </a:r>
            <a:pPr indent="0" marL="0">
              <a:lnSpc>
                <a:spcPts val="1600"/>
              </a:lnSpc>
              <a:buNone/>
            </a:pPr>
            <a:r>
              <a:rPr lang="en-US" sz="1000" dirty="0">
                <a:solidFill>
                  <a:srgbClr val="F8FAFC"/>
                </a:solidFill>
                <a:latin typeface="Arial" pitchFamily="34" charset="0"/>
                <a:ea typeface="Arial" pitchFamily="34" charset="-122"/>
                <a:cs typeface="Arial" pitchFamily="34" charset="-120"/>
              </a:rPr>
              <a:t>  No manual override or software bypass is permitted for critical safety shutdowns (overvoltage, undervoltage, overtemperature, short circuit).
</a:t>
            </a:r>
            <a:pPr indent="0" marL="0">
              <a:lnSpc>
                <a:spcPts val="1600"/>
              </a:lnSpc>
              <a:buNone/>
            </a:pPr>
            <a:r>
              <a:rPr lang="en-US" sz="1000" b="1" dirty="0">
                <a:solidFill>
                  <a:srgbClr val="F59E0B"/>
                </a:solidFill>
                <a:latin typeface="Arial" pitchFamily="34" charset="0"/>
                <a:ea typeface="Arial" pitchFamily="34" charset="-122"/>
                <a:cs typeface="Arial" pitchFamily="34" charset="-120"/>
              </a:rPr>
              <a:t>• Physical vs. CAN Status Fallacy (Sec 7):
</a:t>
            </a:r>
            <a:pPr indent="0" marL="0">
              <a:lnSpc>
                <a:spcPts val="1600"/>
              </a:lnSpc>
              <a:buNone/>
            </a:pPr>
            <a:r>
              <a:rPr lang="en-US" sz="1000" dirty="0">
                <a:solidFill>
                  <a:srgbClr val="F8FAFC"/>
                </a:solidFill>
                <a:latin typeface="Arial" pitchFamily="34" charset="0"/>
                <a:ea typeface="Arial" pitchFamily="34" charset="-122"/>
                <a:cs typeface="Arial" pitchFamily="34" charset="-120"/>
              </a:rPr>
              <a:t>  A CAN status message indicating "safe" does NOT establish that a physical isolation device actually opened. Auxiliary contact feedback required.
</a:t>
            </a:r>
            <a:pPr indent="0" marL="0">
              <a:lnSpc>
                <a:spcPts val="1600"/>
              </a:lnSpc>
              <a:buNone/>
            </a:pPr>
            <a:r>
              <a:rPr lang="en-US" sz="1000" b="1" dirty="0">
                <a:solidFill>
                  <a:srgbClr val="F59E0B"/>
                </a:solidFill>
                <a:latin typeface="Arial" pitchFamily="34" charset="0"/>
                <a:ea typeface="Arial" pitchFamily="34" charset="-122"/>
                <a:cs typeface="Arial" pitchFamily="34" charset="-120"/>
              </a:rPr>
              <a:t>• Loss of Communication Safe State:
</a:t>
            </a:r>
            <a:pPr indent="0" marL="0">
              <a:lnSpc>
                <a:spcPts val="1600"/>
              </a:lnSpc>
              <a:buNone/>
            </a:pPr>
            <a:r>
              <a:rPr lang="en-US" sz="1000" dirty="0">
                <a:solidFill>
                  <a:srgbClr val="F8FAFC"/>
                </a:solidFill>
                <a:latin typeface="Arial" pitchFamily="34" charset="0"/>
                <a:ea typeface="Arial" pitchFamily="34" charset="-122"/>
                <a:cs typeface="Arial" pitchFamily="34" charset="-120"/>
              </a:rPr>
              <a:t>  Communication timeout (&gt;250ms) between BMS Master and Slave CSCs reverts system to an immediate fail-safe trip.</a:t>
            </a:r>
            <a:endParaRPr lang="en-US" sz="1000" dirty="0"/>
          </a:p>
        </p:txBody>
      </p:sp>
      <p:sp>
        <p:nvSpPr>
          <p:cNvPr id="11" name="Shape 9"/>
          <p:cNvSpPr/>
          <p:nvPr/>
        </p:nvSpPr>
        <p:spPr>
          <a:xfrm>
            <a:off x="6309360" y="1325880"/>
            <a:ext cx="5422392" cy="3749040"/>
          </a:xfrm>
          <a:prstGeom prst="rect">
            <a:avLst/>
          </a:prstGeom>
          <a:solidFill>
            <a:srgbClr val="111C30"/>
          </a:solidFill>
          <a:ln w="12700">
            <a:solidFill>
              <a:srgbClr val="223252"/>
            </a:solidFill>
            <a:prstDash val="solid"/>
          </a:ln>
        </p:spPr>
      </p:sp>
      <p:sp>
        <p:nvSpPr>
          <p:cNvPr id="12" name="Text 10"/>
          <p:cNvSpPr/>
          <p:nvPr/>
        </p:nvSpPr>
        <p:spPr>
          <a:xfrm>
            <a:off x="6492240" y="1463040"/>
            <a:ext cx="502920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Clean Electric BMS Implementation</a:t>
            </a:r>
            <a:endParaRPr lang="en-US" sz="1300" dirty="0"/>
          </a:p>
        </p:txBody>
      </p:sp>
      <p:sp>
        <p:nvSpPr>
          <p:cNvPr id="13" name="Text 11"/>
          <p:cNvSpPr/>
          <p:nvPr/>
        </p:nvSpPr>
        <p:spPr>
          <a:xfrm>
            <a:off x="6492240" y="1874520"/>
            <a:ext cx="5029200" cy="30175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 100% Cell-Tab Voltage Coverage:
</a:t>
            </a:r>
            <a:pPr indent="0" marL="0">
              <a:lnSpc>
                <a:spcPts val="1600"/>
              </a:lnSpc>
              <a:buNone/>
            </a:pPr>
            <a:r>
              <a:rPr lang="en-US" sz="1000" dirty="0">
                <a:solidFill>
                  <a:srgbClr val="F8FAFC"/>
                </a:solidFill>
                <a:latin typeface="Arial" pitchFamily="34" charset="0"/>
                <a:ea typeface="Arial" pitchFamily="34" charset="-122"/>
                <a:cs typeface="Arial" pitchFamily="34" charset="-120"/>
              </a:rPr>
              <a:t>  Direct measurement of every series cell tab; 6 thermistors across immersion pack feed BMS.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Hardcoded Non-Volatile Lockout:
</a:t>
            </a:r>
            <a:pPr indent="0" marL="0">
              <a:lnSpc>
                <a:spcPts val="1600"/>
              </a:lnSpc>
              <a:buNone/>
            </a:pPr>
            <a:r>
              <a:rPr lang="en-US" sz="1000" dirty="0">
                <a:solidFill>
                  <a:srgbClr val="F8FAFC"/>
                </a:solidFill>
                <a:latin typeface="Arial" pitchFamily="34" charset="0"/>
                <a:ea typeface="Arial" pitchFamily="34" charset="-122"/>
                <a:cs typeface="Arial" pitchFamily="34" charset="-120"/>
              </a:rPr>
              <a:t>  Safety threshold tripping is hardcoded in firmware flash; zero operator override mode exists.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Dual Independent Isolation: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  Positive and negative poles fitted with fast-acting DC contactors backed by series semiconductor pyro-fuses.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Active Insulation Monitoring (IMD):
</a:t>
            </a:r>
            <a:pPr indent="0" marL="0">
              <a:lnSpc>
                <a:spcPts val="1600"/>
              </a:lnSpc>
              <a:buNone/>
            </a:pPr>
            <a:r>
              <a:rPr lang="en-US" sz="1000" dirty="0">
                <a:solidFill>
                  <a:srgbClr val="F8FAFC"/>
                </a:solidFill>
                <a:latin typeface="Arial" pitchFamily="34" charset="0"/>
                <a:ea typeface="Arial" pitchFamily="34" charset="-122"/>
                <a:cs typeface="Arial" pitchFamily="34" charset="-120"/>
              </a:rPr>
              <a:t>  Bender IMD integrated: pre-warning alarm at 100 Ohm/V; automatic trip at 50 Ohm/V.</a:t>
            </a:r>
            <a:endParaRPr lang="en-US" sz="1000" dirty="0"/>
          </a:p>
        </p:txBody>
      </p:sp>
      <p:sp>
        <p:nvSpPr>
          <p:cNvPr id="14" name="Shape 12"/>
          <p:cNvSpPr/>
          <p:nvPr/>
        </p:nvSpPr>
        <p:spPr>
          <a:xfrm>
            <a:off x="457200" y="5257800"/>
            <a:ext cx="11274552" cy="868680"/>
          </a:xfrm>
          <a:prstGeom prst="rect">
            <a:avLst/>
          </a:prstGeom>
          <a:solidFill>
            <a:srgbClr val="0B1A2C"/>
          </a:solidFill>
          <a:ln w="12700">
            <a:solidFill>
              <a:srgbClr val="38BDF8"/>
            </a:solidFill>
            <a:prstDash val="solid"/>
          </a:ln>
        </p:spPr>
      </p:sp>
      <p:sp>
        <p:nvSpPr>
          <p:cNvPr id="15" name="Text 13"/>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IRS 2026 BMS AMENDMENTS (Section 4 of Marine BESS.docx):
</a:t>
            </a:r>
            <a:pPr indent="0" marL="0">
              <a:buNone/>
            </a:pPr>
            <a:r>
              <a:rPr lang="en-US" sz="1000" dirty="0">
                <a:solidFill>
                  <a:srgbClr val="F8FAFC"/>
                </a:solidFill>
                <a:latin typeface="Arial" pitchFamily="34" charset="0"/>
                <a:ea typeface="Arial" pitchFamily="34" charset="-122"/>
                <a:cs typeface="Arial" pitchFamily="34" charset="-120"/>
              </a:rPr>
              <a:t>The March 2026 IRS BMS amendments identify mandatory alarms for voltage imbalance, low insulation, cooling failure, and communication failure. Applicable for certification applications dated from 1 July 2026 and equipment fitted on vessels contracted from that date.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9 | ENVIRONMENTAL TESTING</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Marine Environmental Qualification: IACS UR E10 (Section 6)</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18638"/>
                <a:gridCol w="2818638"/>
                <a:gridCol w="2818638"/>
                <a:gridCol w="2818638"/>
              </a:tblGrid>
              <a:tr h="320040">
                <a:tc>
                  <a:txBody>
                    <a:bodyPr/>
                    <a:lstStyle/>
                    <a:p>
                      <a:pPr indent="0" marL="0">
                        <a:buNone/>
                      </a:pPr>
                      <a:r>
                        <a:rPr lang="en-US" sz="950" b="1" dirty="0">
                          <a:solidFill>
                            <a:srgbClr val="38BDF8"/>
                          </a:solidFill>
                          <a:latin typeface="Arial" pitchFamily="34" charset="0"/>
                          <a:ea typeface="Arial" pitchFamily="34" charset="-122"/>
                          <a:cs typeface="Arial" pitchFamily="34" charset="-120"/>
                        </a:rPr>
                        <a:t>Test Description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Standard Reference</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Test Parameters &amp; Levels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Hardware Under Test &amp; Status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Power Variations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 3</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DC +/-20% steady; 0V drop for 5ms; ripple 10%</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BMS 24VDC control supply [GAP - Test lab]</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Dry Heat &amp; Cold</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Tests 4 &amp; 6</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+70°C for 16h operational; -25°C for 2h operational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Master BMS &amp; Slave CSCs [GAP - Test lab]</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Damp Heat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 5</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+55°C at 95% RH (cyclic, 2 cycles of 24 hours)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All PCBs (conformal coating check) [GAP]</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Sinusoidal Vibration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 7</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2-13.2 Hz (+/-1.0mm); 13.2-100 Hz (0.7g) on 3 axes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Immersion pack, pump &amp; casing [GAP]</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Inclination Test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 8</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Static roll/pitch 22.5°; dynamic roll 22.5° (10s period)</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Verifies no pump cavitation [GAP]</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EMC &amp; Salt Mist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IACS UR E10 Tests 10 &amp; 15-21</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Radiated/conducted, burst, surge, ESD; 28d salt mist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59E0B"/>
                          </a:solidFill>
                          <a:latin typeface="Arial" pitchFamily="34" charset="0"/>
                          <a:ea typeface="Arial" pitchFamily="34" charset="-122"/>
                          <a:cs typeface="Arial" pitchFamily="34" charset="-120"/>
                        </a:rPr>
                        <a:t>BMS comms lines and connectors [GAP]</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
        <p:nvSpPr>
          <p:cNvPr id="9" name="Shape 6"/>
          <p:cNvSpPr/>
          <p:nvPr/>
        </p:nvSpPr>
        <p:spPr>
          <a:xfrm>
            <a:off x="457200" y="5257800"/>
            <a:ext cx="11274552" cy="868680"/>
          </a:xfrm>
          <a:prstGeom prst="rect">
            <a:avLst/>
          </a:prstGeom>
          <a:solidFill>
            <a:srgbClr val="0B1A2C"/>
          </a:solidFill>
          <a:ln w="12700">
            <a:solidFill>
              <a:srgbClr val="38BDF8"/>
            </a:solidFill>
            <a:prstDash val="solid"/>
          </a:ln>
        </p:spPr>
      </p:sp>
      <p:sp>
        <p:nvSpPr>
          <p:cNvPr id="10" name="Text 7"/>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OPERATING ENVELOPE CHART PRINCIPLE (Section 6 of Marine BESS.docx):
</a:t>
            </a:r>
            <a:pPr indent="0" marL="0">
              <a:buNone/>
            </a:pPr>
            <a:r>
              <a:rPr lang="en-US" sz="1000" dirty="0">
                <a:solidFill>
                  <a:srgbClr val="F8FAFC"/>
                </a:solidFill>
                <a:latin typeface="Arial" pitchFamily="34" charset="0"/>
                <a:ea typeface="Arial" pitchFamily="34" charset="-122"/>
                <a:cs typeface="Arial" pitchFamily="34" charset="-120"/>
              </a:rPr>
              <a:t>Separate the cells' allowable operating range, the rack's qualified ambient range, the BMS electronics' test conditions, and cooling capacity. Build a single operating-envelope chart showing which limit constrains the complete BESS. Testing a composite system does not generate separate certificates for individual components.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10 | ELECTRICAL PROTECTION</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Electrical Protection: Fault Current, Pre-charge &amp; Isolation (Section 7)</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4754880"/>
          </a:xfrm>
          <a:prstGeom prst="rect">
            <a:avLst/>
          </a:prstGeom>
          <a:solidFill>
            <a:srgbClr val="111C30"/>
          </a:solidFill>
          <a:ln w="12700">
            <a:solidFill>
              <a:srgbClr val="223252"/>
            </a:solidFill>
            <a:prstDash val="solid"/>
          </a:ln>
        </p:spPr>
      </p:sp>
      <p:sp>
        <p:nvSpPr>
          <p:cNvPr id="9" name="Text 7"/>
          <p:cNvSpPr/>
          <p:nvPr/>
        </p:nvSpPr>
        <p:spPr>
          <a:xfrm>
            <a:off x="640080" y="150876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Isolation vs. Containment Argument</a:t>
            </a:r>
            <a:endParaRPr lang="en-US" sz="1300" dirty="0"/>
          </a:p>
        </p:txBody>
      </p:sp>
      <p:sp>
        <p:nvSpPr>
          <p:cNvPr id="10" name="Text 8"/>
          <p:cNvSpPr/>
          <p:nvPr/>
        </p:nvSpPr>
        <p:spPr>
          <a:xfrm>
            <a:off x="640080" y="1920240"/>
            <a:ext cx="5029200" cy="3931920"/>
          </a:xfrm>
          <a:prstGeom prst="rect">
            <a:avLst/>
          </a:prstGeom>
          <a:noFill/>
          <a:ln/>
        </p:spPr>
        <p:txBody>
          <a:bodyPr wrap="square" rtlCol="0" anchor="ctr"/>
          <a:lstStyle/>
          <a:p>
            <a:pPr indent="0" marL="0">
              <a:lnSpc>
                <a:spcPts val="1600"/>
              </a:lnSpc>
              <a:buNone/>
            </a:pPr>
            <a:r>
              <a:rPr lang="en-US" sz="1000" b="1" dirty="0">
                <a:solidFill>
                  <a:srgbClr val="F59E0B"/>
                </a:solidFill>
                <a:latin typeface="Arial" pitchFamily="34" charset="0"/>
                <a:ea typeface="Arial" pitchFamily="34" charset="-122"/>
                <a:cs typeface="Arial" pitchFamily="34" charset="-120"/>
              </a:rPr>
              <a:t>Critical Principle (from Section 7):
</a:t>
            </a:r>
            <a:pPr indent="0" marL="0">
              <a:lnSpc>
                <a:spcPts val="1600"/>
              </a:lnSpc>
              <a:buNone/>
            </a:pPr>
            <a:r>
              <a:rPr lang="en-US" sz="1000" dirty="0">
                <a:solidFill>
                  <a:srgbClr val="F8FAFC"/>
                </a:solidFill>
                <a:latin typeface="Arial" pitchFamily="34" charset="0"/>
                <a:ea typeface="Arial" pitchFamily="34" charset="-122"/>
                <a:cs typeface="Arial" pitchFamily="34" charset="-120"/>
              </a:rPr>
              <a:t>Opening a DC contactor cannot remove energy already stored inside electrochemical cells.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Independent Systems:
</a:t>
            </a:r>
            <a:pPr indent="0" marL="0">
              <a:lnSpc>
                <a:spcPts val="1600"/>
              </a:lnSpc>
              <a:buNone/>
            </a:pPr>
            <a:r>
              <a:rPr lang="en-US" sz="1000" dirty="0">
                <a:solidFill>
                  <a:srgbClr val="F8FAFC"/>
                </a:solidFill>
                <a:latin typeface="Arial" pitchFamily="34" charset="0"/>
                <a:ea typeface="Arial" pitchFamily="34" charset="-122"/>
                <a:cs typeface="Arial" pitchFamily="34" charset="-120"/>
              </a:rPr>
              <a:t>Separate the electrical-isolation argument from the heat/gas-containment argument in your design review.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Prospective Fault Current (Isc):
</a:t>
            </a:r>
            <a:pPr indent="0" marL="0">
              <a:lnSpc>
                <a:spcPts val="1600"/>
              </a:lnSpc>
              <a:buNone/>
            </a:pPr>
            <a:r>
              <a:rPr lang="en-US" sz="1000" dirty="0">
                <a:solidFill>
                  <a:srgbClr val="F8FAFC"/>
                </a:solidFill>
                <a:latin typeface="Arial" pitchFamily="34" charset="0"/>
                <a:ea typeface="Arial" pitchFamily="34" charset="-122"/>
                <a:cs typeface="Arial" pitchFamily="34" charset="-120"/>
              </a:rPr>
              <a:t>Calculated per IEC 61660-1. Due to extremely low internal cell resistance (Ri), fault current rise (di/dt) is steep.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Sub-Millisecond Clearance:
</a:t>
            </a:r>
            <a:pPr indent="0" marL="0">
              <a:lnSpc>
                <a:spcPts val="1600"/>
              </a:lnSpc>
              <a:buNone/>
            </a:pPr>
            <a:r>
              <a:rPr lang="en-US" sz="1000" dirty="0">
                <a:solidFill>
                  <a:srgbClr val="F8FAFC"/>
                </a:solidFill>
                <a:latin typeface="Arial" pitchFamily="34" charset="0"/>
                <a:ea typeface="Arial" pitchFamily="34" charset="-122"/>
                <a:cs typeface="Arial" pitchFamily="34" charset="-120"/>
              </a:rPr>
              <a:t>Semiconductor DC pyro-fuses (&gt;20 kA breaking capacity) in series with positive and negative poles clear dead short circuits before contactor welding occurs.</a:t>
            </a:r>
            <a:endParaRPr lang="en-US" sz="1000" dirty="0"/>
          </a:p>
        </p:txBody>
      </p:sp>
      <p:sp>
        <p:nvSpPr>
          <p:cNvPr id="11" name="Shape 9"/>
          <p:cNvSpPr/>
          <p:nvPr/>
        </p:nvSpPr>
        <p:spPr>
          <a:xfrm>
            <a:off x="6309360" y="1325880"/>
            <a:ext cx="5422392" cy="4754880"/>
          </a:xfrm>
          <a:prstGeom prst="rect">
            <a:avLst/>
          </a:prstGeom>
          <a:solidFill>
            <a:srgbClr val="111C30"/>
          </a:solidFill>
          <a:ln w="12700">
            <a:solidFill>
              <a:srgbClr val="223252"/>
            </a:solidFill>
            <a:prstDash val="solid"/>
          </a:ln>
        </p:spPr>
      </p:sp>
      <p:sp>
        <p:nvSpPr>
          <p:cNvPr id="12" name="Text 10"/>
          <p:cNvSpPr/>
          <p:nvPr/>
        </p:nvSpPr>
        <p:spPr>
          <a:xfrm>
            <a:off x="6492240" y="1508760"/>
            <a:ext cx="502920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Pre-Charge &amp; Ungrounded IT Bus Isolation</a:t>
            </a:r>
            <a:endParaRPr lang="en-US" sz="1300" dirty="0"/>
          </a:p>
        </p:txBody>
      </p:sp>
      <p:sp>
        <p:nvSpPr>
          <p:cNvPr id="13" name="Text 11"/>
          <p:cNvSpPr/>
          <p:nvPr/>
        </p:nvSpPr>
        <p:spPr>
          <a:xfrm>
            <a:off x="6492240" y="1920240"/>
            <a:ext cx="5029200" cy="39319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Pre-Charge Resistor Circuit:
</a:t>
            </a:r>
            <a:pPr indent="0" marL="0">
              <a:lnSpc>
                <a:spcPts val="1600"/>
              </a:lnSpc>
              <a:buNone/>
            </a:pPr>
            <a:r>
              <a:rPr lang="en-US" sz="1000" dirty="0">
                <a:solidFill>
                  <a:srgbClr val="F8FAFC"/>
                </a:solidFill>
                <a:latin typeface="Arial" pitchFamily="34" charset="0"/>
                <a:ea typeface="Arial" pitchFamily="34" charset="-122"/>
                <a:cs typeface="Arial" pitchFamily="34" charset="-120"/>
              </a:rPr>
              <a:t>Limits DC link capacitor inrush current to &lt;1.0C during inverter connection; contactor interlocked with inverter DC bus voltage (&gt;95% VDC before main contactor closes).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Continuous Insulation Monitoring (IMD):
</a:t>
            </a:r>
            <a:pPr indent="0" marL="0">
              <a:lnSpc>
                <a:spcPts val="1600"/>
              </a:lnSpc>
              <a:buNone/>
            </a:pPr>
            <a:r>
              <a:rPr lang="en-US" sz="1000" dirty="0">
                <a:solidFill>
                  <a:srgbClr val="F8FAFC"/>
                </a:solidFill>
                <a:latin typeface="Arial" pitchFamily="34" charset="0"/>
                <a:ea typeface="Arial" pitchFamily="34" charset="-122"/>
                <a:cs typeface="Arial" pitchFamily="34" charset="-120"/>
              </a:rPr>
              <a:t>Floating ungrounded IT DC distribution network with active Bender ground-fault detector measuring insulation resistance across both poles.
</a:t>
            </a:r>
            <a:pPr indent="0" marL="0">
              <a:lnSpc>
                <a:spcPts val="1600"/>
              </a:lnSpc>
              <a:buNone/>
            </a:pPr>
            <a:r>
              <a:rPr lang="en-US" sz="1000" b="1" dirty="0">
                <a:solidFill>
                  <a:srgbClr val="F59E0B"/>
                </a:solidFill>
                <a:latin typeface="Arial" pitchFamily="34" charset="0"/>
                <a:ea typeface="Arial" pitchFamily="34" charset="-122"/>
                <a:cs typeface="Arial" pitchFamily="34" charset="-120"/>
              </a:rPr>
              <a:t>Pre-Warning Alarm Threshold: </a:t>
            </a:r>
            <a:pPr indent="0" marL="0">
              <a:lnSpc>
                <a:spcPts val="1600"/>
              </a:lnSpc>
              <a:buNone/>
            </a:pPr>
            <a:r>
              <a:rPr lang="en-US" sz="1000" dirty="0">
                <a:solidFill>
                  <a:srgbClr val="F8FAFC"/>
                </a:solidFill>
                <a:latin typeface="Arial" pitchFamily="34" charset="0"/>
                <a:ea typeface="Arial" pitchFamily="34" charset="-122"/>
                <a:cs typeface="Arial" pitchFamily="34" charset="-120"/>
              </a:rPr>
              <a:t>100 Ohm / Volt.
</a:t>
            </a:r>
            <a:pPr indent="0" marL="0">
              <a:lnSpc>
                <a:spcPts val="1600"/>
              </a:lnSpc>
              <a:buNone/>
            </a:pPr>
            <a:r>
              <a:rPr lang="en-US" sz="1000" b="1" dirty="0">
                <a:solidFill>
                  <a:srgbClr val="EF4444"/>
                </a:solidFill>
                <a:latin typeface="Arial" pitchFamily="34" charset="0"/>
                <a:ea typeface="Arial" pitchFamily="34" charset="-122"/>
                <a:cs typeface="Arial" pitchFamily="34" charset="-120"/>
              </a:rPr>
              <a:t>Critical Trip Threshold: </a:t>
            </a:r>
            <a:pPr indent="0" marL="0">
              <a:lnSpc>
                <a:spcPts val="1600"/>
              </a:lnSpc>
              <a:buNone/>
            </a:pPr>
            <a:r>
              <a:rPr lang="en-US" sz="1000" dirty="0">
                <a:solidFill>
                  <a:srgbClr val="F8FAFC"/>
                </a:solidFill>
                <a:latin typeface="Arial" pitchFamily="34" charset="0"/>
                <a:ea typeface="Arial" pitchFamily="34" charset="-122"/>
                <a:cs typeface="Arial" pitchFamily="34" charset="-120"/>
              </a:rPr>
              <a:t>50 Ohm / Volt with automatic system isolation.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Selective Protection: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Coordinated selectivity ensures string fuses clear branch faults without tripping the vessel main switchboard.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11 | ENCLOSURE &amp; INGRESS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Mechanical Enclosure, Ingress Protection &amp; Pressure Relief</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71600"/>
            <a:ext cx="3593592" cy="4754880"/>
          </a:xfrm>
          <a:prstGeom prst="rect">
            <a:avLst/>
          </a:prstGeom>
          <a:solidFill>
            <a:srgbClr val="111C30"/>
          </a:solidFill>
          <a:ln w="12700">
            <a:solidFill>
              <a:srgbClr val="223252"/>
            </a:solidFill>
            <a:prstDash val="solid"/>
          </a:ln>
        </p:spPr>
      </p:sp>
      <p:sp>
        <p:nvSpPr>
          <p:cNvPr id="9" name="Text 7"/>
          <p:cNvSpPr/>
          <p:nvPr/>
        </p:nvSpPr>
        <p:spPr>
          <a:xfrm>
            <a:off x="640080" y="1554480"/>
            <a:ext cx="3227832"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Ingress Protection (IP Code)</a:t>
            </a:r>
            <a:endParaRPr lang="en-US" sz="1300" dirty="0"/>
          </a:p>
        </p:txBody>
      </p:sp>
      <p:sp>
        <p:nvSpPr>
          <p:cNvPr id="10" name="Text 8"/>
          <p:cNvSpPr/>
          <p:nvPr/>
        </p:nvSpPr>
        <p:spPr>
          <a:xfrm>
            <a:off x="640080" y="2011680"/>
            <a:ext cx="3227832" cy="393192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ABS Section 2/2.2 requires minimum IP44 in dedicated battery spaces and IP67 on open weather decks.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IRS INST-04 recommends minimum IP44.</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VFCPL Monolithic Enclosure is certified to IP67 throughout (dust-tight and protected against water immersion).</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Exceeds standard battery room requirements and permits exposed containerized mounting.</a:t>
            </a:r>
            <a:endParaRPr lang="en-US" sz="1000" dirty="0"/>
          </a:p>
        </p:txBody>
      </p:sp>
      <p:sp>
        <p:nvSpPr>
          <p:cNvPr id="11" name="Shape 9"/>
          <p:cNvSpPr/>
          <p:nvPr/>
        </p:nvSpPr>
        <p:spPr>
          <a:xfrm>
            <a:off x="4297680" y="1371600"/>
            <a:ext cx="3593592" cy="4754880"/>
          </a:xfrm>
          <a:prstGeom prst="rect">
            <a:avLst/>
          </a:prstGeom>
          <a:solidFill>
            <a:srgbClr val="111C30"/>
          </a:solidFill>
          <a:ln w="12700">
            <a:solidFill>
              <a:srgbClr val="223252"/>
            </a:solidFill>
            <a:prstDash val="solid"/>
          </a:ln>
        </p:spPr>
      </p:sp>
      <p:sp>
        <p:nvSpPr>
          <p:cNvPr id="12" name="Text 10"/>
          <p:cNvSpPr/>
          <p:nvPr/>
        </p:nvSpPr>
        <p:spPr>
          <a:xfrm>
            <a:off x="4480560" y="1554480"/>
            <a:ext cx="3227832"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Thermal Volumetric Breathing</a:t>
            </a:r>
            <a:endParaRPr lang="en-US" sz="1300" dirty="0"/>
          </a:p>
        </p:txBody>
      </p:sp>
      <p:sp>
        <p:nvSpPr>
          <p:cNvPr id="13" name="Text 11"/>
          <p:cNvSpPr/>
          <p:nvPr/>
        </p:nvSpPr>
        <p:spPr>
          <a:xfrm>
            <a:off x="4480560" y="2011680"/>
            <a:ext cx="3227832" cy="393192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Dielectric fluid expands with temperature changes (volumetric expansion coefficient beta ~ 0.0007 /°C).</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Internal headspace cushion or expansion bellows accommodates fluid expansion across -10°C to +65°C.</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Prevents internal overpressure during normal cycling without casing deformation.</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Sealed breather with desiccant prevents atmospheric moisture ingress.</a:t>
            </a:r>
            <a:endParaRPr lang="en-US" sz="1000" dirty="0"/>
          </a:p>
        </p:txBody>
      </p:sp>
      <p:sp>
        <p:nvSpPr>
          <p:cNvPr id="14" name="Shape 12"/>
          <p:cNvSpPr/>
          <p:nvPr/>
        </p:nvSpPr>
        <p:spPr>
          <a:xfrm>
            <a:off x="8138160" y="1371600"/>
            <a:ext cx="3593592" cy="4754880"/>
          </a:xfrm>
          <a:prstGeom prst="rect">
            <a:avLst/>
          </a:prstGeom>
          <a:solidFill>
            <a:srgbClr val="111C30"/>
          </a:solidFill>
          <a:ln w="12700">
            <a:solidFill>
              <a:srgbClr val="223252"/>
            </a:solidFill>
            <a:prstDash val="solid"/>
          </a:ln>
        </p:spPr>
      </p:sp>
      <p:sp>
        <p:nvSpPr>
          <p:cNvPr id="15" name="Text 13"/>
          <p:cNvSpPr/>
          <p:nvPr/>
        </p:nvSpPr>
        <p:spPr>
          <a:xfrm>
            <a:off x="8321040" y="1554480"/>
            <a:ext cx="3227832"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Pressure Relief Valve (PRV)</a:t>
            </a:r>
            <a:endParaRPr lang="en-US" sz="1300" dirty="0"/>
          </a:p>
        </p:txBody>
      </p:sp>
      <p:sp>
        <p:nvSpPr>
          <p:cNvPr id="16" name="Text 14"/>
          <p:cNvSpPr/>
          <p:nvPr/>
        </p:nvSpPr>
        <p:spPr>
          <a:xfrm>
            <a:off x="8321040" y="2011680"/>
            <a:ext cx="3227832" cy="393192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Spring-loaded PRV or rupture disc calibrated below elastic deformation limit of aluminum shell.</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Sized to discharge peak off-gas generation volume during worst-case thermal runaway.</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Discharge port flanged for direct connection to shipyard exhaust duct.</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Piped directly to open weather deck away from personnel and air intakes.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12 | COMPARTMENT &amp; VENTILATION</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Battery Space Design, Ventilation &amp; Hazardous Area Zoning</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818638"/>
                <a:gridCol w="2818638"/>
                <a:gridCol w="2818638"/>
                <a:gridCol w="2818638"/>
              </a:tblGrid>
              <a:tr h="320040">
                <a:tc>
                  <a:txBody>
                    <a:bodyPr/>
                    <a:lstStyle/>
                    <a:p>
                      <a:pPr indent="0" marL="0">
                        <a:buNone/>
                      </a:pPr>
                      <a:r>
                        <a:rPr lang="en-US" sz="950" b="1" dirty="0">
                          <a:solidFill>
                            <a:srgbClr val="38BDF8"/>
                          </a:solidFill>
                          <a:latin typeface="Arial" pitchFamily="34" charset="0"/>
                          <a:ea typeface="Arial" pitchFamily="34" charset="-122"/>
                          <a:cs typeface="Arial" pitchFamily="34" charset="-120"/>
                        </a:rPr>
                        <a:t>Engineering Parameter</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ABS Dec 2025 Rules (Sec 3/3 &amp; 3/5)</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IRS GL Rev.2 Requirements (Sec 2.2 &amp; 2.6)</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VFCPL Integration Specification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822960">
                <a:tc>
                  <a:txBody>
                    <a:bodyPr/>
                    <a:lstStyle/>
                    <a:p>
                      <a:pPr indent="0" marL="0">
                        <a:buNone/>
                      </a:pPr>
                      <a:r>
                        <a:rPr lang="en-US" sz="950" b="1" dirty="0">
                          <a:solidFill>
                            <a:srgbClr val="F8FAFC"/>
                          </a:solidFill>
                          <a:latin typeface="Arial" pitchFamily="34" charset="0"/>
                          <a:ea typeface="Arial" pitchFamily="34" charset="-122"/>
                          <a:cs typeface="Arial" pitchFamily="34" charset="-120"/>
                        </a:rPr>
                        <a:t>Room Boundary Fire Rating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Machinery Space of Category A. Structural fire protection A-60 towards high risk areas.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Category A space treatment. A-60 boundaries adjacent to accommodation and control spaces.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Shipyard integration drawings specify A-60 bulkheads and self-closing fire doors.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822960">
                <a:tc>
                  <a:txBody>
                    <a:bodyPr/>
                    <a:lstStyle/>
                    <a:p>
                      <a:pPr indent="0" marL="0">
                        <a:buNone/>
                      </a:pPr>
                      <a:r>
                        <a:rPr lang="en-US" sz="950" b="1" dirty="0">
                          <a:solidFill>
                            <a:srgbClr val="F8FAFC"/>
                          </a:solidFill>
                          <a:latin typeface="Arial" pitchFamily="34" charset="0"/>
                          <a:ea typeface="Arial" pitchFamily="34" charset="-122"/>
                          <a:cs typeface="Arial" pitchFamily="34" charset="-120"/>
                        </a:rPr>
                        <a:t>Normal Ventilation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Mechanical ventilation maintaining compartment &lt;= 35°C. Independent ducting.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Independent mechanical ventilation providing minimum 2 Air Changes per Hour (ACH).</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Dedicated supply &amp; exhaust HVAC with intake near floor and exhaust at ceiling level.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822960">
                <a:tc>
                  <a:txBody>
                    <a:bodyPr/>
                    <a:lstStyle/>
                    <a:p>
                      <a:pPr indent="0" marL="0">
                        <a:buNone/>
                      </a:pPr>
                      <a:r>
                        <a:rPr lang="en-US" sz="950" b="1" dirty="0">
                          <a:solidFill>
                            <a:srgbClr val="F8FAFC"/>
                          </a:solidFill>
                          <a:latin typeface="Arial" pitchFamily="34" charset="0"/>
                          <a:ea typeface="Arial" pitchFamily="34" charset="-122"/>
                          <a:cs typeface="Arial" pitchFamily="34" charset="-120"/>
                        </a:rPr>
                        <a:t>Emergency Ventilation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Mandatory high-rate exhaust triggered automatically upon flammable gas detection.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Minimum 6 Air Changes per Hour (ACH) starting automatically on gas detection.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b="1" dirty="0">
                          <a:solidFill>
                            <a:srgbClr val="10B981"/>
                          </a:solidFill>
                          <a:latin typeface="Arial" pitchFamily="34" charset="0"/>
                          <a:ea typeface="Arial" pitchFamily="34" charset="-122"/>
                          <a:cs typeface="Arial" pitchFamily="34" charset="-120"/>
                        </a:rPr>
                        <a:t>Dual-speed spark-proof blower interlocked with BMS / Gas Detection panel.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822960">
                <a:tc>
                  <a:txBody>
                    <a:bodyPr/>
                    <a:lstStyle/>
                    <a:p>
                      <a:pPr indent="0" marL="0">
                        <a:buNone/>
                      </a:pPr>
                      <a:r>
                        <a:rPr lang="en-US" sz="950" b="1" dirty="0">
                          <a:solidFill>
                            <a:srgbClr val="F8FAFC"/>
                          </a:solidFill>
                          <a:latin typeface="Arial" pitchFamily="34" charset="0"/>
                          <a:ea typeface="Arial" pitchFamily="34" charset="-122"/>
                          <a:cs typeface="Arial" pitchFamily="34" charset="-120"/>
                        </a:rPr>
                        <a:t>Hazardous Area Zoning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Classified per IEC 60079-10-1. Zone 2 where battery off-gas can accumulate.</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Zone 2 classification. Certified safe electrical equipment at least Ex IIC T1.</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b="1" dirty="0">
                          <a:solidFill>
                            <a:srgbClr val="10B981"/>
                          </a:solidFill>
                          <a:latin typeface="Arial" pitchFamily="34" charset="0"/>
                          <a:ea typeface="Arial" pitchFamily="34" charset="-122"/>
                          <a:cs typeface="Arial" pitchFamily="34" charset="-120"/>
                        </a:rPr>
                        <a:t>All room lighting, gas sensors, fan motors, and actuators certified ATEX/IECEx Zone 2 Ex-d/ia.</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
        <p:nvSpPr>
          <p:cNvPr id="9" name="Shape 6"/>
          <p:cNvSpPr/>
          <p:nvPr/>
        </p:nvSpPr>
        <p:spPr>
          <a:xfrm>
            <a:off x="457200" y="5257800"/>
            <a:ext cx="11274552" cy="868680"/>
          </a:xfrm>
          <a:prstGeom prst="rect">
            <a:avLst/>
          </a:prstGeom>
          <a:solidFill>
            <a:srgbClr val="0B1A2C"/>
          </a:solidFill>
          <a:ln w="12700">
            <a:solidFill>
              <a:srgbClr val="38BDF8"/>
            </a:solidFill>
            <a:prstDash val="solid"/>
          </a:ln>
        </p:spPr>
      </p:sp>
      <p:sp>
        <p:nvSpPr>
          <p:cNvPr id="10" name="Text 7"/>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SPARK-PROOF FAN CONSTRUCTION (GL Rev.2 §2.6.1.3 &amp; ABS Sec 3/3.3):
</a:t>
            </a:r>
            <a:pPr indent="0" marL="0">
              <a:buNone/>
            </a:pPr>
            <a:r>
              <a:rPr lang="en-US" sz="1000" dirty="0">
                <a:solidFill>
                  <a:srgbClr val="F8FAFC"/>
                </a:solidFill>
                <a:latin typeface="Arial" pitchFamily="34" charset="0"/>
                <a:ea typeface="Arial" pitchFamily="34" charset="-122"/>
                <a:cs typeface="Arial" pitchFamily="34" charset="-120"/>
              </a:rPr>
              <a:t>Exhaust fans must feature anti-static, non-metallic spark-minimizing impellers with Ex-d explosion-proof motors. The emergency exhaust fan must start automatically on gas detection and be operable remotely from the bridge and locally outside the battery space.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13 | FIRE &amp; GAS SAFETY</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Fire Detection, Gas Monitoring &amp; Water-Based Extinguishing</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4754880"/>
          </a:xfrm>
          <a:prstGeom prst="rect">
            <a:avLst/>
          </a:prstGeom>
          <a:solidFill>
            <a:srgbClr val="111C30"/>
          </a:solidFill>
          <a:ln w="12700">
            <a:solidFill>
              <a:srgbClr val="223252"/>
            </a:solidFill>
            <a:prstDash val="solid"/>
          </a:ln>
        </p:spPr>
      </p:sp>
      <p:sp>
        <p:nvSpPr>
          <p:cNvPr id="9" name="Text 7"/>
          <p:cNvSpPr/>
          <p:nvPr/>
        </p:nvSpPr>
        <p:spPr>
          <a:xfrm>
            <a:off x="640080" y="150876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Gas &amp; Fire Detection Architecture</a:t>
            </a:r>
            <a:endParaRPr lang="en-US" sz="1300" dirty="0"/>
          </a:p>
        </p:txBody>
      </p:sp>
      <p:sp>
        <p:nvSpPr>
          <p:cNvPr id="10" name="Text 8"/>
          <p:cNvSpPr/>
          <p:nvPr/>
        </p:nvSpPr>
        <p:spPr>
          <a:xfrm>
            <a:off x="640080" y="1920240"/>
            <a:ext cx="5029200" cy="39319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Smoke Detection: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Addressable optical smoke detectors complying with IMO FSS Code positioned throughout the compartment.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Off-Gas Flammable Gas Detectors (LEL):
</a:t>
            </a:r>
            <a:pPr indent="0" marL="0">
              <a:lnSpc>
                <a:spcPts val="1600"/>
              </a:lnSpc>
              <a:buNone/>
            </a:pPr>
            <a:r>
              <a:rPr lang="en-US" sz="1000" dirty="0">
                <a:solidFill>
                  <a:srgbClr val="F8FAFC"/>
                </a:solidFill>
                <a:latin typeface="Arial" pitchFamily="34" charset="0"/>
                <a:ea typeface="Arial" pitchFamily="34" charset="-122"/>
                <a:cs typeface="Arial" pitchFamily="34" charset="-120"/>
              </a:rPr>
              <a:t>• At 30% LFL: Audio-visual alarm at manned control station, automatic start of 6 ACH emergency ventilation, and controlled BMS trip.
</a:t>
            </a:r>
            <a:pPr indent="0" marL="0">
              <a:lnSpc>
                <a:spcPts val="1600"/>
              </a:lnSpc>
              <a:buNone/>
            </a:pPr>
            <a:r>
              <a:rPr lang="en-US" sz="1000" dirty="0">
                <a:solidFill>
                  <a:srgbClr val="F8FAFC"/>
                </a:solidFill>
                <a:latin typeface="Arial" pitchFamily="34" charset="0"/>
                <a:ea typeface="Arial" pitchFamily="34" charset="-122"/>
                <a:cs typeface="Arial" pitchFamily="34" charset="-120"/>
              </a:rPr>
              <a:t>• At 60% LFL: Total automatic de-energization of all non-Ex electrical circuits in the compartment.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Thermal Imaging:
</a:t>
            </a:r>
            <a:pPr indent="0" marL="0">
              <a:lnSpc>
                <a:spcPts val="1600"/>
              </a:lnSpc>
              <a:buNone/>
            </a:pPr>
            <a:r>
              <a:rPr lang="en-US" sz="1000" dirty="0">
                <a:solidFill>
                  <a:srgbClr val="F8FAFC"/>
                </a:solidFill>
                <a:latin typeface="Arial" pitchFamily="34" charset="0"/>
                <a:ea typeface="Arial" pitchFamily="34" charset="-122"/>
                <a:cs typeface="Arial" pitchFamily="34" charset="-120"/>
              </a:rPr>
              <a:t>Fixed thermographic / IR cameras recommended by IRS GL Rev.2 §2.6.4.2 to monitor external surface temperatures.</a:t>
            </a:r>
            <a:endParaRPr lang="en-US" sz="1000" dirty="0"/>
          </a:p>
        </p:txBody>
      </p:sp>
      <p:sp>
        <p:nvSpPr>
          <p:cNvPr id="11" name="Shape 9"/>
          <p:cNvSpPr/>
          <p:nvPr/>
        </p:nvSpPr>
        <p:spPr>
          <a:xfrm>
            <a:off x="6309360" y="1325880"/>
            <a:ext cx="5422392" cy="4754880"/>
          </a:xfrm>
          <a:prstGeom prst="rect">
            <a:avLst/>
          </a:prstGeom>
          <a:solidFill>
            <a:srgbClr val="111C30"/>
          </a:solidFill>
          <a:ln w="12700">
            <a:solidFill>
              <a:srgbClr val="223252"/>
            </a:solidFill>
            <a:prstDash val="solid"/>
          </a:ln>
        </p:spPr>
      </p:sp>
      <p:sp>
        <p:nvSpPr>
          <p:cNvPr id="12" name="Text 10"/>
          <p:cNvSpPr/>
          <p:nvPr/>
        </p:nvSpPr>
        <p:spPr>
          <a:xfrm>
            <a:off x="6492240" y="1508760"/>
            <a:ext cx="502920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Fixed Water-Based Fire Extinguishing</a:t>
            </a:r>
            <a:endParaRPr lang="en-US" sz="1300" dirty="0"/>
          </a:p>
        </p:txBody>
      </p:sp>
      <p:sp>
        <p:nvSpPr>
          <p:cNvPr id="13" name="Text 11"/>
          <p:cNvSpPr/>
          <p:nvPr/>
        </p:nvSpPr>
        <p:spPr>
          <a:xfrm>
            <a:off x="6492240" y="1920240"/>
            <a:ext cx="5029200" cy="3931920"/>
          </a:xfrm>
          <a:prstGeom prst="rect">
            <a:avLst/>
          </a:prstGeom>
          <a:noFill/>
          <a:ln/>
        </p:spPr>
        <p:txBody>
          <a:bodyPr wrap="square" rtlCol="0" anchor="ctr"/>
          <a:lstStyle/>
          <a:p>
            <a:pPr indent="0" marL="0">
              <a:lnSpc>
                <a:spcPts val="1600"/>
              </a:lnSpc>
              <a:buNone/>
            </a:pPr>
            <a:r>
              <a:rPr lang="en-US" sz="1000" b="1" dirty="0">
                <a:solidFill>
                  <a:srgbClr val="F59E0B"/>
                </a:solidFill>
                <a:latin typeface="Arial" pitchFamily="34" charset="0"/>
                <a:ea typeface="Arial" pitchFamily="34" charset="-122"/>
                <a:cs typeface="Arial" pitchFamily="34" charset="-120"/>
              </a:rPr>
              <a:t>Mandatory Water-Based Extinguishing:
</a:t>
            </a:r>
            <a:pPr indent="0" marL="0">
              <a:lnSpc>
                <a:spcPts val="1600"/>
              </a:lnSpc>
              <a:buNone/>
            </a:pPr>
            <a:r>
              <a:rPr lang="en-US" sz="1000" dirty="0">
                <a:solidFill>
                  <a:srgbClr val="F8FAFC"/>
                </a:solidFill>
                <a:latin typeface="Arial" pitchFamily="34" charset="0"/>
                <a:ea typeface="Arial" pitchFamily="34" charset="-122"/>
                <a:cs typeface="Arial" pitchFamily="34" charset="-120"/>
              </a:rPr>
              <a:t>Fixed water mist or sprinkler system approved for Category A machinery spaces (IMO MSC.1/Circ.1165).
</a:t>
            </a:r>
            <a:pPr indent="0" marL="0">
              <a:lnSpc>
                <a:spcPts val="1600"/>
              </a:lnSpc>
              <a:buNone/>
            </a:pPr>
            <a:r>
              <a:rPr lang="en-US" sz="1000" b="1" dirty="0">
                <a:solidFill>
                  <a:srgbClr val="EF4444"/>
                </a:solidFill>
                <a:latin typeface="Arial" pitchFamily="34" charset="0"/>
                <a:ea typeface="Arial" pitchFamily="34" charset="-122"/>
                <a:cs typeface="Arial" pitchFamily="34" charset="-120"/>
              </a:rPr>
              <a:t>Why Gaseous Systems are Rejected:
</a:t>
            </a:r>
            <a:pPr indent="0" marL="0">
              <a:lnSpc>
                <a:spcPts val="1600"/>
              </a:lnSpc>
              <a:buNone/>
            </a:pPr>
            <a:r>
              <a:rPr lang="en-US" sz="1000" dirty="0">
                <a:solidFill>
                  <a:srgbClr val="F8FAFC"/>
                </a:solidFill>
                <a:latin typeface="Arial" pitchFamily="34" charset="0"/>
                <a:ea typeface="Arial" pitchFamily="34" charset="-122"/>
                <a:cs typeface="Arial" pitchFamily="34" charset="-120"/>
              </a:rPr>
              <a:t>Class rules reject purely gaseous systems (CO2, Novec 1230, FM-200) as primary lithium runaway protection because gases starve oxygen but cannot extract deep internal heat from burning cells.
</a:t>
            </a:r>
            <a:pPr indent="0" marL="0">
              <a:lnSpc>
                <a:spcPts val="1600"/>
              </a:lnSpc>
              <a:buNone/>
            </a:pPr>
            <a:r>
              <a:rPr lang="en-US" sz="1000" b="1" dirty="0">
                <a:solidFill>
                  <a:srgbClr val="10B981"/>
                </a:solidFill>
                <a:latin typeface="Arial" pitchFamily="34" charset="0"/>
                <a:ea typeface="Arial" pitchFamily="34" charset="-122"/>
                <a:cs typeface="Arial" pitchFamily="34" charset="-120"/>
              </a:rPr>
              <a:t>Immersion Protection Synergy:
</a:t>
            </a:r>
            <a:pPr indent="0" marL="0">
              <a:lnSpc>
                <a:spcPts val="1600"/>
              </a:lnSpc>
              <a:buNone/>
            </a:pPr>
            <a:r>
              <a:rPr lang="en-US" sz="1000" dirty="0">
                <a:solidFill>
                  <a:srgbClr val="F8FAFC"/>
                </a:solidFill>
                <a:latin typeface="Arial" pitchFamily="34" charset="0"/>
                <a:ea typeface="Arial" pitchFamily="34" charset="-122"/>
                <a:cs typeface="Arial" pitchFamily="34" charset="-120"/>
              </a:rPr>
              <a:t>In the VFCPL pack, internal cell cooling is provided by the dielectric fluid. External water mist protects the room structure, cools the exterior casing, and suppresses external fires.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14 | CONTAINERIZED SYSTEMS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Packaged &amp; Containerized Marine BESS (ABS Appendix 3 &amp; Section 9)</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71600"/>
            <a:ext cx="3593592" cy="3657600"/>
          </a:xfrm>
          <a:prstGeom prst="rect">
            <a:avLst/>
          </a:prstGeom>
          <a:solidFill>
            <a:srgbClr val="111C30"/>
          </a:solidFill>
          <a:ln w="12700">
            <a:solidFill>
              <a:srgbClr val="223252"/>
            </a:solidFill>
            <a:prstDash val="solid"/>
          </a:ln>
        </p:spPr>
      </p:sp>
      <p:sp>
        <p:nvSpPr>
          <p:cNvPr id="9" name="Text 7"/>
          <p:cNvSpPr/>
          <p:nvPr/>
        </p:nvSpPr>
        <p:spPr>
          <a:xfrm>
            <a:off x="640080" y="1554480"/>
            <a:ext cx="3227832"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Structural &amp; Marine Lifting</a:t>
            </a:r>
            <a:endParaRPr lang="en-US" sz="1300" dirty="0"/>
          </a:p>
        </p:txBody>
      </p:sp>
      <p:sp>
        <p:nvSpPr>
          <p:cNvPr id="10" name="Text 8"/>
          <p:cNvSpPr/>
          <p:nvPr/>
        </p:nvSpPr>
        <p:spPr>
          <a:xfrm>
            <a:off x="64008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ISO container structure certified to International Convention for Safe Containers (CSC).</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Offshore lifting lugs certified to DNV 2.7-1 / ISO 10855 for marine crane operations.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Deck tie-down structural calculations verifying survival under severe vessel heave, pitch, and roll accelerations.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Finite Element Analysis (FEA) verifying deck weld withstand.</a:t>
            </a:r>
            <a:endParaRPr lang="en-US" sz="1000" dirty="0"/>
          </a:p>
        </p:txBody>
      </p:sp>
      <p:sp>
        <p:nvSpPr>
          <p:cNvPr id="11" name="Shape 9"/>
          <p:cNvSpPr/>
          <p:nvPr/>
        </p:nvSpPr>
        <p:spPr>
          <a:xfrm>
            <a:off x="4297680" y="1371600"/>
            <a:ext cx="3593592" cy="3657600"/>
          </a:xfrm>
          <a:prstGeom prst="rect">
            <a:avLst/>
          </a:prstGeom>
          <a:solidFill>
            <a:srgbClr val="111C30"/>
          </a:solidFill>
          <a:ln w="12700">
            <a:solidFill>
              <a:srgbClr val="223252"/>
            </a:solidFill>
            <a:prstDash val="solid"/>
          </a:ln>
        </p:spPr>
      </p:sp>
      <p:sp>
        <p:nvSpPr>
          <p:cNvPr id="12" name="Text 10"/>
          <p:cNvSpPr/>
          <p:nvPr/>
        </p:nvSpPr>
        <p:spPr>
          <a:xfrm>
            <a:off x="4480560" y="1554480"/>
            <a:ext cx="3227832"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Fire Separation &amp; Boundaries</a:t>
            </a:r>
            <a:endParaRPr lang="en-US" sz="1300" dirty="0"/>
          </a:p>
        </p:txBody>
      </p:sp>
      <p:sp>
        <p:nvSpPr>
          <p:cNvPr id="13" name="Text 11"/>
          <p:cNvSpPr/>
          <p:nvPr/>
        </p:nvSpPr>
        <p:spPr>
          <a:xfrm>
            <a:off x="448056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Container outer envelope insulated to A-60 fire standard throughout.</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Located away from life-saving appliances (lifeboats, liferafts) and muster stations.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Clear of accommodation air intakes and hazardous fuel tanks.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Self-closing doors with limit switches feeding wheelhouse alarms.</a:t>
            </a:r>
            <a:endParaRPr lang="en-US" sz="1000" dirty="0"/>
          </a:p>
        </p:txBody>
      </p:sp>
      <p:sp>
        <p:nvSpPr>
          <p:cNvPr id="14" name="Shape 12"/>
          <p:cNvSpPr/>
          <p:nvPr/>
        </p:nvSpPr>
        <p:spPr>
          <a:xfrm>
            <a:off x="8138160" y="1371600"/>
            <a:ext cx="3593592" cy="3657600"/>
          </a:xfrm>
          <a:prstGeom prst="rect">
            <a:avLst/>
          </a:prstGeom>
          <a:solidFill>
            <a:srgbClr val="111C30"/>
          </a:solidFill>
          <a:ln w="12700">
            <a:solidFill>
              <a:srgbClr val="223252"/>
            </a:solidFill>
            <a:prstDash val="solid"/>
          </a:ln>
        </p:spPr>
      </p:sp>
      <p:sp>
        <p:nvSpPr>
          <p:cNvPr id="15" name="Text 13"/>
          <p:cNvSpPr/>
          <p:nvPr/>
        </p:nvSpPr>
        <p:spPr>
          <a:xfrm>
            <a:off x="8321040" y="1554480"/>
            <a:ext cx="3227832"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Integrated Safety Systems</a:t>
            </a:r>
            <a:endParaRPr lang="en-US" sz="1300" dirty="0"/>
          </a:p>
        </p:txBody>
      </p:sp>
      <p:sp>
        <p:nvSpPr>
          <p:cNvPr id="16" name="Text 14"/>
          <p:cNvSpPr/>
          <p:nvPr/>
        </p:nvSpPr>
        <p:spPr>
          <a:xfrm>
            <a:off x="8321040" y="2011680"/>
            <a:ext cx="3227832" cy="2834640"/>
          </a:xfrm>
          <a:prstGeom prst="rect">
            <a:avLst/>
          </a:prstGeom>
          <a:noFill/>
          <a:ln/>
        </p:spPr>
        <p:txBody>
          <a:bodyPr wrap="square" rtlCol="0" anchor="ctr"/>
          <a:lstStyle/>
          <a:p>
            <a:pPr indent="0" marL="0">
              <a:lnSpc>
                <a:spcPts val="1800"/>
              </a:lnSpc>
              <a:buNone/>
            </a:pPr>
            <a:r>
              <a:rPr lang="en-US" sz="1000" dirty="0">
                <a:solidFill>
                  <a:srgbClr val="F8FAFC"/>
                </a:solidFill>
                <a:latin typeface="Arial" pitchFamily="34" charset="0"/>
                <a:ea typeface="Arial" pitchFamily="34" charset="-122"/>
                <a:cs typeface="Arial" pitchFamily="34" charset="-120"/>
              </a:rPr>
              <a:t>• Internal Fire &amp; Gas (F&amp;G) detection and deluge control head inside container vestibule.</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External Emergency Shutdown (ESD) button outside container access door.</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Self-contained HVAC system with automatic fast-closing fire dampers.</a:t>
            </a:r>
            <a:endParaRPr lang="en-US" sz="1000" dirty="0"/>
          </a:p>
          <a:p>
            <a:pPr indent="0" marL="0">
              <a:lnSpc>
                <a:spcPts val="1800"/>
              </a:lnSpc>
              <a:buNone/>
            </a:pPr>
            <a:endParaRPr lang="en-US" sz="1000" dirty="0"/>
          </a:p>
          <a:p>
            <a:pPr indent="0" marL="0">
              <a:lnSpc>
                <a:spcPts val="1800"/>
              </a:lnSpc>
              <a:buNone/>
            </a:pPr>
            <a:r>
              <a:rPr lang="en-US" sz="1000" dirty="0">
                <a:solidFill>
                  <a:srgbClr val="F8FAFC"/>
                </a:solidFill>
                <a:latin typeface="Arial" pitchFamily="34" charset="0"/>
                <a:ea typeface="Arial" pitchFamily="34" charset="-122"/>
                <a:cs typeface="Arial" pitchFamily="34" charset="-120"/>
              </a:rPr>
              <a:t>• Dedicated exhaust louvers interlocked with deluge release.</a:t>
            </a:r>
            <a:endParaRPr lang="en-US" sz="1000" dirty="0"/>
          </a:p>
        </p:txBody>
      </p:sp>
      <p:sp>
        <p:nvSpPr>
          <p:cNvPr id="17" name="Shape 15"/>
          <p:cNvSpPr/>
          <p:nvPr/>
        </p:nvSpPr>
        <p:spPr>
          <a:xfrm>
            <a:off x="457200" y="5257800"/>
            <a:ext cx="11274552" cy="868680"/>
          </a:xfrm>
          <a:prstGeom prst="rect">
            <a:avLst/>
          </a:prstGeom>
          <a:solidFill>
            <a:srgbClr val="1A1708"/>
          </a:solidFill>
          <a:ln w="12700">
            <a:solidFill>
              <a:srgbClr val="F59E0B"/>
            </a:solidFill>
            <a:prstDash val="solid"/>
          </a:ln>
        </p:spPr>
      </p:sp>
      <p:sp>
        <p:nvSpPr>
          <p:cNvPr id="18" name="Text 16"/>
          <p:cNvSpPr/>
          <p:nvPr/>
        </p:nvSpPr>
        <p:spPr>
          <a:xfrm>
            <a:off x="640080" y="5349240"/>
            <a:ext cx="10881360" cy="6858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CONTAINER SCOPE ALLOCATION WARNING (from Section 9 of Marine BESS.docx):
</a:t>
            </a:r>
            <a:pPr indent="0" marL="0">
              <a:buNone/>
            </a:pPr>
            <a:r>
              <a:rPr lang="en-US" sz="1000" dirty="0">
                <a:solidFill>
                  <a:srgbClr val="F8FAFC"/>
                </a:solidFill>
                <a:latin typeface="Arial" pitchFamily="34" charset="0"/>
                <a:ea typeface="Arial" pitchFamily="34" charset="-122"/>
                <a:cs typeface="Arial" pitchFamily="34" charset="-120"/>
              </a:rPr>
              <a:t>For containerized supply, explicitly identify whether HVAC, fire detection, suppression, exhaust, converter, and auxiliary power are included. A container shell certificate alone says little about the electrical and thermal safety of the contents.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15 | AMBESS OPERATIONAL CONCEPT</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AMBESS Operational Concept: Hotel Power &amp; Essential Services</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4754880"/>
          </a:xfrm>
          <a:prstGeom prst="rect">
            <a:avLst/>
          </a:prstGeom>
          <a:solidFill>
            <a:srgbClr val="111C30"/>
          </a:solidFill>
          <a:ln w="12700">
            <a:solidFill>
              <a:srgbClr val="223252"/>
            </a:solidFill>
            <a:prstDash val="solid"/>
          </a:ln>
        </p:spPr>
      </p:sp>
      <p:sp>
        <p:nvSpPr>
          <p:cNvPr id="9" name="Text 7"/>
          <p:cNvSpPr/>
          <p:nvPr/>
        </p:nvSpPr>
        <p:spPr>
          <a:xfrm>
            <a:off x="640080" y="150876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Anchor Mode Operating Philosophy</a:t>
            </a:r>
            <a:endParaRPr lang="en-US" sz="1300" dirty="0"/>
          </a:p>
        </p:txBody>
      </p:sp>
      <p:sp>
        <p:nvSpPr>
          <p:cNvPr id="10" name="Text 8"/>
          <p:cNvSpPr/>
          <p:nvPr/>
        </p:nvSpPr>
        <p:spPr>
          <a:xfrm>
            <a:off x="640080" y="1920240"/>
            <a:ext cx="5029200" cy="39319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Duty Profile:
</a:t>
            </a:r>
            <a:pPr indent="0" marL="0">
              <a:lnSpc>
                <a:spcPts val="1600"/>
              </a:lnSpc>
              <a:buNone/>
            </a:pPr>
            <a:r>
              <a:rPr lang="en-US" sz="1000" dirty="0">
                <a:solidFill>
                  <a:srgbClr val="F8FAFC"/>
                </a:solidFill>
                <a:latin typeface="Arial" pitchFamily="34" charset="0"/>
                <a:ea typeface="Arial" pitchFamily="34" charset="-122"/>
                <a:cs typeface="Arial" pitchFamily="34" charset="-120"/>
              </a:rPr>
              <a:t>Supplies vessel hotel and auxiliary electrical loads during anchor watch or station keeping, allowing diesel generators to be shut down.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Generator Optimization: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Generators operate in short, high-efficiency blocks (&gt;75% MCR) to recharge BESS, avoiding low-load (&lt;30%) engine wet-stacking.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Solar Offset:
</a:t>
            </a:r>
            <a:pPr indent="0" marL="0">
              <a:lnSpc>
                <a:spcPts val="1600"/>
              </a:lnSpc>
              <a:buNone/>
            </a:pPr>
            <a:r>
              <a:rPr lang="en-US" sz="1000" dirty="0">
                <a:solidFill>
                  <a:srgbClr val="F8FAFC"/>
                </a:solidFill>
                <a:latin typeface="Arial" pitchFamily="34" charset="0"/>
                <a:ea typeface="Arial" pitchFamily="34" charset="-122"/>
                <a:cs typeface="Arial" pitchFamily="34" charset="-120"/>
              </a:rPr>
              <a:t>Integrated DC/DC solar array offsets auxiliary charging demand in port/anchorage.
</a:t>
            </a:r>
            <a:pPr indent="0" marL="0">
              <a:lnSpc>
                <a:spcPts val="1600"/>
              </a:lnSpc>
              <a:buNone/>
            </a:pPr>
            <a:r>
              <a:rPr lang="en-US" sz="1000" b="1" dirty="0">
                <a:solidFill>
                  <a:srgbClr val="10B981"/>
                </a:solidFill>
                <a:latin typeface="Arial" pitchFamily="34" charset="0"/>
                <a:ea typeface="Arial" pitchFamily="34" charset="-122"/>
                <a:cs typeface="Arial" pitchFamily="34" charset="-120"/>
              </a:rPr>
              <a:t>Demonstrated Cycle Life:
</a:t>
            </a:r>
            <a:pPr indent="0" marL="0">
              <a:lnSpc>
                <a:spcPts val="1600"/>
              </a:lnSpc>
              <a:buNone/>
            </a:pPr>
            <a:r>
              <a:rPr lang="en-US" sz="1000" dirty="0">
                <a:solidFill>
                  <a:srgbClr val="F8FAFC"/>
                </a:solidFill>
                <a:latin typeface="Arial" pitchFamily="34" charset="0"/>
                <a:ea typeface="Arial" pitchFamily="34" charset="-122"/>
                <a:cs typeface="Arial" pitchFamily="34" charset="-120"/>
              </a:rPr>
              <a:t>Bench validated over 818 cycles with 89.65% capacity retention (SoH) and minimal cell degradation.</a:t>
            </a:r>
            <a:endParaRPr lang="en-US" sz="1000" dirty="0"/>
          </a:p>
        </p:txBody>
      </p:sp>
      <p:sp>
        <p:nvSpPr>
          <p:cNvPr id="11" name="Shape 9"/>
          <p:cNvSpPr/>
          <p:nvPr/>
        </p:nvSpPr>
        <p:spPr>
          <a:xfrm>
            <a:off x="6309360" y="1325880"/>
            <a:ext cx="5422392" cy="4754880"/>
          </a:xfrm>
          <a:prstGeom prst="rect">
            <a:avLst/>
          </a:prstGeom>
          <a:solidFill>
            <a:srgbClr val="111C30"/>
          </a:solidFill>
          <a:ln w="12700">
            <a:solidFill>
              <a:srgbClr val="223252"/>
            </a:solidFill>
            <a:prstDash val="solid"/>
          </a:ln>
        </p:spPr>
      </p:sp>
      <p:sp>
        <p:nvSpPr>
          <p:cNvPr id="12" name="Text 10"/>
          <p:cNvSpPr/>
          <p:nvPr/>
        </p:nvSpPr>
        <p:spPr>
          <a:xfrm>
            <a:off x="6492240" y="1508760"/>
            <a:ext cx="5029200"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Essential Services &amp; Redundancy Rules</a:t>
            </a:r>
            <a:endParaRPr lang="en-US" sz="1300" dirty="0"/>
          </a:p>
        </p:txBody>
      </p:sp>
      <p:sp>
        <p:nvSpPr>
          <p:cNvPr id="13" name="Text 11"/>
          <p:cNvSpPr/>
          <p:nvPr/>
        </p:nvSpPr>
        <p:spPr>
          <a:xfrm>
            <a:off x="6492240" y="1920240"/>
            <a:ext cx="5029200" cy="39319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Auxiliary Role vs. Main Propulsion: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AMBESS is classed as Auxiliary Power / Propulsion Support under IRS GL Rev.2 §1.1.3 and ABS Section 4.
</a:t>
            </a:r>
            <a:pPr indent="0" marL="0">
              <a:lnSpc>
                <a:spcPts val="1600"/>
              </a:lnSpc>
              <a:buNone/>
            </a:pPr>
            <a:r>
              <a:rPr lang="en-US" sz="1000" b="1" dirty="0">
                <a:solidFill>
                  <a:srgbClr val="F59E0B"/>
                </a:solidFill>
                <a:latin typeface="Arial" pitchFamily="34" charset="0"/>
                <a:ea typeface="Arial" pitchFamily="34" charset="-122"/>
                <a:cs typeface="Arial" pitchFamily="34" charset="-120"/>
              </a:rPr>
              <a:t>Blackout Prevention Interlocks:
</a:t>
            </a:r>
            <a:pPr indent="0" marL="0">
              <a:lnSpc>
                <a:spcPts val="1600"/>
              </a:lnSpc>
              <a:buNone/>
            </a:pPr>
            <a:r>
              <a:rPr lang="en-US" sz="1000" dirty="0">
                <a:solidFill>
                  <a:srgbClr val="F8FAFC"/>
                </a:solidFill>
                <a:latin typeface="Arial" pitchFamily="34" charset="0"/>
                <a:ea typeface="Arial" pitchFamily="34" charset="-122"/>
                <a:cs typeface="Arial" pitchFamily="34" charset="-120"/>
              </a:rPr>
              <a:t>A fault, trip, or short-circuit on the BESS DC bus must NEVER backfeed or cause tripping of primary shipboard diesel generators or steering gear.
</a:t>
            </a:r>
            <a:pPr indent="0" marL="0">
              <a:lnSpc>
                <a:spcPts val="1600"/>
              </a:lnSpc>
              <a:buNone/>
            </a:pPr>
            <a:r>
              <a:rPr lang="en-US" sz="1000" b="1" dirty="0">
                <a:solidFill>
                  <a:srgbClr val="10B981"/>
                </a:solidFill>
                <a:latin typeface="Arial" pitchFamily="34" charset="0"/>
                <a:ea typeface="Arial" pitchFamily="34" charset="-122"/>
                <a:cs typeface="Arial" pitchFamily="34" charset="-120"/>
              </a:rPr>
              <a:t>Propulsion Redundancy Exemption:
</a:t>
            </a:r>
            <a:pPr indent="0" marL="0">
              <a:lnSpc>
                <a:spcPts val="1600"/>
              </a:lnSpc>
              <a:buNone/>
            </a:pPr>
            <a:r>
              <a:rPr lang="en-US" sz="1000" dirty="0">
                <a:solidFill>
                  <a:srgbClr val="F8FAFC"/>
                </a:solidFill>
                <a:latin typeface="Arial" pitchFamily="34" charset="0"/>
                <a:ea typeface="Arial" pitchFamily="34" charset="-122"/>
                <a:cs typeface="Arial" pitchFamily="34" charset="-120"/>
              </a:rPr>
              <a:t>Because AMBESS is dedicated to hotel/auxiliary power and does not power the vessel propulsion shaft line, mandatory dual redundant battery rooms and split propulsion switchboards are NOT required.
</a:t>
            </a:r>
            <a:pPr indent="0" marL="0">
              <a:lnSpc>
                <a:spcPts val="1600"/>
              </a:lnSpc>
              <a:buNone/>
            </a:pPr>
            <a:r>
              <a:rPr lang="en-US" sz="1000" b="1" dirty="0">
                <a:solidFill>
                  <a:srgbClr val="F8FAFC"/>
                </a:solidFill>
                <a:latin typeface="Arial" pitchFamily="34" charset="0"/>
                <a:ea typeface="Arial" pitchFamily="34" charset="-122"/>
                <a:cs typeface="Arial" pitchFamily="34" charset="-120"/>
              </a:rPr>
              <a:t>Saves significant capital cost and structural space for shipowners.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16 | 10 ENGINEERING WORK PACKAGES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The 10 Engineering Work Packages for the BESS Supplier (Section 7)</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3758184"/>
                <a:gridCol w="3758184"/>
                <a:gridCol w="3758184"/>
              </a:tblGrid>
              <a:tr h="320040">
                <a:tc>
                  <a:txBody>
                    <a:bodyPr/>
                    <a:lstStyle/>
                    <a:p>
                      <a:pPr indent="0" marL="0">
                        <a:buNone/>
                      </a:pPr>
                      <a:r>
                        <a:rPr lang="en-US" sz="900" b="1" dirty="0">
                          <a:solidFill>
                            <a:srgbClr val="38BDF8"/>
                          </a:solidFill>
                          <a:latin typeface="Arial" pitchFamily="34" charset="0"/>
                          <a:ea typeface="Arial" pitchFamily="34" charset="-122"/>
                          <a:cs typeface="Arial" pitchFamily="34" charset="-120"/>
                        </a:rPr>
                        <a:t>Work Package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Evidence VFCPL &amp; Clean Electric Must Assemble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Decision to Close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1. Product Definition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Architecture, model codes, cell OEM, series/parallel configuration, DC voltage window, energy/power ratings.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Exactly which variants belong to the approval family?</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2. Cell Sourcing</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Full test reports (IEC 62619/62620), lot traceability, storage history, supplier change notices.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Which supplier/model substitutions trigger reassessment?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3. Module Mechanics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Drawings, connection design, weights, centre of gravity, fastening and service access.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Which installation loads and mounting arrangements are approved?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4. Electrical Protection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Prospective fault-current calculation (Isc), fuse/breaker selection, contactor ratings, precharge and isolation.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Can each credited device interrupt or withstand the actual fault?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5. BMS Architecture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Architecture, signal list, fault handling, software release controls and diagnostic coverage, override lock.</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What is the safe response to each sensor, processor or comms fault?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6. Cooling Engineering</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Heat map, thermal model, fluid specification, flow/pressure limits, leakage controls and hydrotest evidence.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Which faults require derating, isolation or shutdown?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7. Off-Gas &amp; Fire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Chemistry-specific test results, release paths, pressure relief and interfaces to protective systems.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Which protective functions are inside the product boundary?</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8. Converter Interface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Limits, commands, feedback, timeout rules, stop sequence and restart conditions.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Does each end behave consistently when the other end fails?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9. Production Assurance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Incoming inspection, assembly records, torque control, end-of-line records and calibration.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How is every delivered unit connected to the assessed design?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10. Field Support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Installation limits, servicing instructions, spares policy, software updates and event retrieval.</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38BDF8"/>
                          </a:solidFill>
                          <a:latin typeface="Arial" pitchFamily="34" charset="0"/>
                          <a:ea typeface="Arial" pitchFamily="34" charset="-122"/>
                          <a:cs typeface="Arial" pitchFamily="34" charset="-120"/>
                        </a:rPr>
                        <a:t>How are unauthorized changes and configuration drift prevented?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17 | SUPPLIER-SHIPYARD BOUNDARY</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Supplier vs. Shipyard Responsibility Boundary Schedule (Section 9)</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3758184"/>
                <a:gridCol w="3758184"/>
                <a:gridCol w="3758184"/>
              </a:tblGrid>
              <a:tr h="320040">
                <a:tc>
                  <a:txBody>
                    <a:bodyPr/>
                    <a:lstStyle/>
                    <a:p>
                      <a:pPr indent="0" marL="0">
                        <a:buNone/>
                      </a:pPr>
                      <a:r>
                        <a:rPr lang="en-US" sz="950" b="1" dirty="0">
                          <a:solidFill>
                            <a:srgbClr val="38BDF8"/>
                          </a:solidFill>
                          <a:latin typeface="Arial" pitchFamily="34" charset="0"/>
                          <a:ea typeface="Arial" pitchFamily="34" charset="-122"/>
                          <a:cs typeface="Arial" pitchFamily="34" charset="-120"/>
                        </a:rPr>
                        <a:t>Interface Domain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BESS Supplier Provides (VFCPL &amp; Clean Electric)</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50" b="1" dirty="0">
                          <a:solidFill>
                            <a:srgbClr val="38BDF8"/>
                          </a:solidFill>
                          <a:latin typeface="Arial" pitchFamily="34" charset="0"/>
                          <a:ea typeface="Arial" pitchFamily="34" charset="-122"/>
                          <a:cs typeface="Arial" pitchFamily="34" charset="-120"/>
                        </a:rPr>
                        <a:t>Integrator / Shipyard Closes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1. DC Electrical Power</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Voltage/current envelope, terminal details, fault contribution calculation (Isc), fuses, contactors.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Distribution switchboard, cabling, upstream coordination, A-60 cable transits, blackout interlocks.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2. Immersion Cooling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Sealed tank, internal dielectric fluid, pump P1, failure alarms, 1.5x hydrotest QA certificate.</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Space ventilation (&lt;=35°C), post-installation 1.0x tightness test, wheelhouse AMS alarm wiring.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3. Off-Gas &amp; PRV</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Calibrated PRV, outlet geometry, gas volume rate, allowable backpressure data.</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Dedicated steel exhaust duct directly to weather deck (&gt;=3m from air intakes), flame arrestor.</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4. Emergency Shutdown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Hardwired discrete ESD input terminals (24VDC fail-safe), dual contactors, feedback telemetry.</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Remote ESD buttons at bridge, CCR, and outside room door; end-to-end trip verification.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5. Fire Protection</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Immersion fluid containment data, material safety data, post-fire hazard guidelines in manual.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A-60 structural boundary, IMO FSS smoke detectors, fixed water-based fire extinguishing (water mist).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6. Hazardous Area</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Gas emission data, IP67 enclosure rating, BMS trip signal on gas input.</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Zone 2 classification, electrical equipment certified Ex IIC T1, gas detection trips at 30% &amp; 60% LFL.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7. Mechanical &amp; Structural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Wet mass, 3D Center of Gravity, dynamic acceleration load factors, mounting layout, lifting lugs.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Deck foundations, structural coaming, deck load calculation, 600 mm maintenance access clearance.</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548640">
                <a:tc>
                  <a:txBody>
                    <a:bodyPr/>
                    <a:lstStyle/>
                    <a:p>
                      <a:pPr indent="0" marL="0">
                        <a:buNone/>
                      </a:pPr>
                      <a:r>
                        <a:rPr lang="en-US" sz="950" b="1" dirty="0">
                          <a:solidFill>
                            <a:srgbClr val="F8FAFC"/>
                          </a:solidFill>
                          <a:latin typeface="Arial" pitchFamily="34" charset="0"/>
                          <a:ea typeface="Arial" pitchFamily="34" charset="-122"/>
                          <a:cs typeface="Arial" pitchFamily="34" charset="-120"/>
                        </a:rPr>
                        <a:t>8. Communications</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Isolated CAN/Modbus port, register map, dynamic current limits (CCL/DCL), heartbeat watchdog.</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50" dirty="0">
                          <a:solidFill>
                            <a:srgbClr val="F8FAFC"/>
                          </a:solidFill>
                          <a:latin typeface="Arial" pitchFamily="34" charset="0"/>
                          <a:ea typeface="Arial" pitchFamily="34" charset="-122"/>
                          <a:cs typeface="Arial" pitchFamily="34" charset="-120"/>
                        </a:rPr>
                        <a:t>Ship EMS/PMS driver, generator ramp-rate coordination, wheelhouse alarm &amp; monitoring panel.</a:t>
                      </a:r>
                      <a:endParaRPr lang="en-US" sz="95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18 | SUBMISSION DOSSIER STRUCTURE</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Controlled Submission Folders &amp; 4-Tier Evidence States (Section 11)</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4754880"/>
          </a:xfrm>
          <a:prstGeom prst="rect">
            <a:avLst/>
          </a:prstGeom>
          <a:solidFill>
            <a:srgbClr val="111C30"/>
          </a:solidFill>
          <a:ln w="12700">
            <a:solidFill>
              <a:srgbClr val="223252"/>
            </a:solidFill>
            <a:prstDash val="solid"/>
          </a:ln>
        </p:spPr>
      </p:sp>
      <p:sp>
        <p:nvSpPr>
          <p:cNvPr id="9" name="Text 7"/>
          <p:cNvSpPr/>
          <p:nvPr/>
        </p:nvSpPr>
        <p:spPr>
          <a:xfrm>
            <a:off x="640080" y="150876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The 8 Controlled Submission Folders</a:t>
            </a:r>
            <a:endParaRPr lang="en-US" sz="1300" dirty="0"/>
          </a:p>
        </p:txBody>
      </p:sp>
      <p:sp>
        <p:nvSpPr>
          <p:cNvPr id="10" name="Text 8"/>
          <p:cNvSpPr/>
          <p:nvPr/>
        </p:nvSpPr>
        <p:spPr>
          <a:xfrm>
            <a:off x="640080" y="1920240"/>
            <a:ext cx="5029200" cy="3931920"/>
          </a:xfrm>
          <a:prstGeom prst="rect">
            <a:avLst/>
          </a:prstGeom>
          <a:noFill/>
          <a:ln/>
        </p:spPr>
        <p:txBody>
          <a:bodyPr wrap="square" rtlCol="0" anchor="ctr"/>
          <a:lstStyle/>
          <a:p>
            <a:pPr indent="0" marL="0">
              <a:lnSpc>
                <a:spcPts val="1600"/>
              </a:lnSpc>
              <a:buNone/>
            </a:pPr>
            <a:r>
              <a:rPr lang="en-US" sz="1000" b="1" dirty="0">
                <a:solidFill>
                  <a:srgbClr val="38BDF8"/>
                </a:solidFill>
                <a:latin typeface="Arial" pitchFamily="34" charset="0"/>
                <a:ea typeface="Arial" pitchFamily="34" charset="-122"/>
                <a:cs typeface="Arial" pitchFamily="34" charset="-120"/>
              </a:rPr>
              <a:t>• Folder 1: Basis
</a:t>
            </a:r>
            <a:pPr indent="0" marL="0">
              <a:lnSpc>
                <a:spcPts val="1600"/>
              </a:lnSpc>
              <a:buNone/>
            </a:pPr>
            <a:r>
              <a:rPr lang="en-US" sz="1000" dirty="0">
                <a:solidFill>
                  <a:srgbClr val="F8FAFC"/>
                </a:solidFill>
                <a:latin typeface="Arial" pitchFamily="34" charset="0"/>
                <a:ea typeface="Arial" pitchFamily="34" charset="-122"/>
                <a:cs typeface="Arial" pitchFamily="34" charset="-120"/>
              </a:rPr>
              <a:t>  Intended use (AMBESS hotel power), exclusions, rule editions, model family, approval strategy.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Folder 2: Design
</a:t>
            </a:r>
            <a:pPr indent="0" marL="0">
              <a:lnSpc>
                <a:spcPts val="1600"/>
              </a:lnSpc>
              <a:buNone/>
            </a:pPr>
            <a:r>
              <a:rPr lang="en-US" sz="1000" dirty="0">
                <a:solidFill>
                  <a:srgbClr val="F8FAFC"/>
                </a:solidFill>
                <a:latin typeface="Arial" pitchFamily="34" charset="0"/>
                <a:ea typeface="Arial" pitchFamily="34" charset="-122"/>
                <a:cs typeface="Arial" pitchFamily="34" charset="-120"/>
              </a:rPr>
              <a:t>  Electrical SLD, mechanical drawings, BOM, fluid schematics, PRV sizing calculations.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Folder 3: Safety
</a:t>
            </a:r>
            <a:pPr indent="0" marL="0">
              <a:lnSpc>
                <a:spcPts val="1600"/>
              </a:lnSpc>
              <a:buNone/>
            </a:pPr>
            <a:r>
              <a:rPr lang="en-US" sz="1000" dirty="0">
                <a:solidFill>
                  <a:srgbClr val="F8FAFC"/>
                </a:solidFill>
                <a:latin typeface="Arial" pitchFamily="34" charset="0"/>
                <a:ea typeface="Arial" pitchFamily="34" charset="-122"/>
                <a:cs typeface="Arial" pitchFamily="34" charset="-120"/>
              </a:rPr>
              <a:t>  Hazard register, FMEA, protective trip matrix, unresolved installation assumptions.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Folder 4: Controls
</a:t>
            </a:r>
            <a:pPr indent="0" marL="0">
              <a:lnSpc>
                <a:spcPts val="1600"/>
              </a:lnSpc>
              <a:buNone/>
            </a:pPr>
            <a:r>
              <a:rPr lang="en-US" sz="1000" dirty="0">
                <a:solidFill>
                  <a:srgbClr val="F8FAFC"/>
                </a:solidFill>
                <a:latin typeface="Arial" pitchFamily="34" charset="0"/>
                <a:ea typeface="Arial" pitchFamily="34" charset="-122"/>
                <a:cs typeface="Arial" pitchFamily="34" charset="-120"/>
              </a:rPr>
              <a:t>  BMS specs, override lockout statement, CAN map, Software Quality Plan (SQP).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 Folders 5-8: Thermal, Testing, Manufacturing, Delivery
</a:t>
            </a:r>
            <a:pPr indent="0" marL="0">
              <a:lnSpc>
                <a:spcPts val="1600"/>
              </a:lnSpc>
              <a:buNone/>
            </a:pPr>
            <a:r>
              <a:rPr lang="en-US" sz="1000" dirty="0">
                <a:solidFill>
                  <a:srgbClr val="F8FAFC"/>
                </a:solidFill>
                <a:latin typeface="Arial" pitchFamily="34" charset="0"/>
                <a:ea typeface="Arial" pitchFamily="34" charset="-122"/>
                <a:cs typeface="Arial" pitchFamily="34" charset="-120"/>
              </a:rPr>
              <a:t>  Fluid test data, accredited lab test reports, ISO 9001 QA SOP-004, and shipyard manuals.</a:t>
            </a:r>
            <a:endParaRPr lang="en-US" sz="1000" dirty="0"/>
          </a:p>
        </p:txBody>
      </p:sp>
      <p:sp>
        <p:nvSpPr>
          <p:cNvPr id="11" name="Shape 9"/>
          <p:cNvSpPr/>
          <p:nvPr/>
        </p:nvSpPr>
        <p:spPr>
          <a:xfrm>
            <a:off x="6309360" y="1325880"/>
            <a:ext cx="5422392" cy="4754880"/>
          </a:xfrm>
          <a:prstGeom prst="rect">
            <a:avLst/>
          </a:prstGeom>
          <a:solidFill>
            <a:srgbClr val="111C30"/>
          </a:solidFill>
          <a:ln w="12700">
            <a:solidFill>
              <a:srgbClr val="223252"/>
            </a:solidFill>
            <a:prstDash val="solid"/>
          </a:ln>
        </p:spPr>
      </p:sp>
      <p:sp>
        <p:nvSpPr>
          <p:cNvPr id="12" name="Text 10"/>
          <p:cNvSpPr/>
          <p:nvPr/>
        </p:nvSpPr>
        <p:spPr>
          <a:xfrm>
            <a:off x="6492240" y="1508760"/>
            <a:ext cx="502920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The 4-Tier Evidence States (Section 11)</a:t>
            </a:r>
            <a:endParaRPr lang="en-US" sz="1300" dirty="0"/>
          </a:p>
        </p:txBody>
      </p:sp>
      <p:sp>
        <p:nvSpPr>
          <p:cNvPr id="13" name="Text 11"/>
          <p:cNvSpPr/>
          <p:nvPr/>
        </p:nvSpPr>
        <p:spPr>
          <a:xfrm>
            <a:off x="6492240" y="1920240"/>
            <a:ext cx="5029200" cy="3931920"/>
          </a:xfrm>
          <a:prstGeom prst="rect">
            <a:avLst/>
          </a:prstGeom>
          <a:noFill/>
          <a:ln/>
        </p:spPr>
        <p:txBody>
          <a:bodyPr wrap="square" rtlCol="0" anchor="ctr"/>
          <a:lstStyle/>
          <a:p>
            <a:pPr indent="0" marL="0">
              <a:lnSpc>
                <a:spcPts val="1600"/>
              </a:lnSpc>
              <a:buNone/>
            </a:pPr>
            <a:r>
              <a:rPr lang="en-US" sz="1000" b="1" dirty="0">
                <a:solidFill>
                  <a:srgbClr val="F59E0B"/>
                </a:solidFill>
                <a:latin typeface="Arial" pitchFamily="34" charset="0"/>
                <a:ea typeface="Arial" pitchFamily="34" charset="-122"/>
                <a:cs typeface="Arial" pitchFamily="34" charset="-120"/>
              </a:rPr>
              <a:t>Avoid a single "compliant" column:
</a:t>
            </a:r>
            <a:pPr indent="0" marL="0">
              <a:lnSpc>
                <a:spcPts val="1600"/>
              </a:lnSpc>
              <a:buNone/>
            </a:pPr>
            <a:r>
              <a:rPr lang="en-US" sz="1000" dirty="0">
                <a:solidFill>
                  <a:srgbClr val="F8FAFC"/>
                </a:solidFill>
                <a:latin typeface="Arial" pitchFamily="34" charset="0"/>
                <a:ea typeface="Arial" pitchFamily="34" charset="-122"/>
                <a:cs typeface="Arial" pitchFamily="34" charset="-120"/>
              </a:rPr>
              <a:t>A design intention, a test result, and class acceptance are fundamentally different levels of evidence.
</a:t>
            </a:r>
            <a:pPr indent="0" marL="0">
              <a:lnSpc>
                <a:spcPts val="1600"/>
              </a:lnSpc>
              <a:buNone/>
            </a:pPr>
            <a:r>
              <a:rPr lang="en-US" sz="1000" b="1" dirty="0">
                <a:solidFill>
                  <a:srgbClr val="10B981"/>
                </a:solidFill>
                <a:latin typeface="Arial" pitchFamily="34" charset="0"/>
                <a:ea typeface="Arial" pitchFamily="34" charset="-122"/>
                <a:cs typeface="Arial" pitchFamily="34" charset="-120"/>
              </a:rPr>
              <a:t>1. ACCEPTED:
</a:t>
            </a:r>
            <a:pPr indent="0" marL="0">
              <a:lnSpc>
                <a:spcPts val="1600"/>
              </a:lnSpc>
              <a:buNone/>
            </a:pPr>
            <a:r>
              <a:rPr lang="en-US" sz="1000" dirty="0">
                <a:solidFill>
                  <a:srgbClr val="F8FAFC"/>
                </a:solidFill>
                <a:latin typeface="Arial" pitchFamily="34" charset="0"/>
                <a:ea typeface="Arial" pitchFamily="34" charset="-122"/>
                <a:cs typeface="Arial" pitchFamily="34" charset="-120"/>
              </a:rPr>
              <a:t>Formally approved in writing by the classification society surveyor or plan review office.
</a:t>
            </a:r>
            <a:pPr indent="0" marL="0">
              <a:lnSpc>
                <a:spcPts val="1600"/>
              </a:lnSpc>
              <a:buNone/>
            </a:pPr>
            <a:r>
              <a:rPr lang="en-US" sz="1000" b="1" dirty="0">
                <a:solidFill>
                  <a:srgbClr val="38BDF8"/>
                </a:solidFill>
                <a:latin typeface="Arial" pitchFamily="34" charset="0"/>
                <a:ea typeface="Arial" pitchFamily="34" charset="-122"/>
                <a:cs typeface="Arial" pitchFamily="34" charset="-120"/>
              </a:rPr>
              <a:t>2. SUBMITTED:
</a:t>
            </a:r>
            <a:pPr indent="0" marL="0">
              <a:lnSpc>
                <a:spcPts val="1600"/>
              </a:lnSpc>
              <a:buNone/>
            </a:pPr>
            <a:r>
              <a:rPr lang="en-US" sz="1000" dirty="0">
                <a:solidFill>
                  <a:srgbClr val="F8FAFC"/>
                </a:solidFill>
                <a:latin typeface="Arial" pitchFamily="34" charset="0"/>
                <a:ea typeface="Arial" pitchFamily="34" charset="-122"/>
                <a:cs typeface="Arial" pitchFamily="34" charset="-120"/>
              </a:rPr>
              <a:t>Formally delivered to class; currently pending technical review.
</a:t>
            </a:r>
            <a:pPr indent="0" marL="0">
              <a:lnSpc>
                <a:spcPts val="1600"/>
              </a:lnSpc>
              <a:buNone/>
            </a:pPr>
            <a:r>
              <a:rPr lang="en-US" sz="1000" b="1" dirty="0">
                <a:solidFill>
                  <a:srgbClr val="F59E0B"/>
                </a:solidFill>
                <a:latin typeface="Arial" pitchFamily="34" charset="0"/>
                <a:ea typeface="Arial" pitchFamily="34" charset="-122"/>
                <a:cs typeface="Arial" pitchFamily="34" charset="-120"/>
              </a:rPr>
              <a:t>3. GAP:
</a:t>
            </a:r>
            <a:pPr indent="0" marL="0">
              <a:lnSpc>
                <a:spcPts val="1600"/>
              </a:lnSpc>
              <a:buNone/>
            </a:pPr>
            <a:r>
              <a:rPr lang="en-US" sz="1000" dirty="0">
                <a:solidFill>
                  <a:srgbClr val="F8FAFC"/>
                </a:solidFill>
                <a:latin typeface="Arial" pitchFamily="34" charset="0"/>
                <a:ea typeface="Arial" pitchFamily="34" charset="-122"/>
                <a:cs typeface="Arial" pitchFamily="34" charset="-120"/>
              </a:rPr>
              <a:t>Rule requirement identified, but technical evidence or test report does not yet exist; action required.
</a:t>
            </a:r>
            <a:pPr indent="0" marL="0">
              <a:lnSpc>
                <a:spcPts val="1600"/>
              </a:lnSpc>
              <a:buNone/>
            </a:pPr>
            <a:r>
              <a:rPr lang="en-US" sz="1000" b="1" dirty="0">
                <a:solidFill>
                  <a:srgbClr val="94A3B8"/>
                </a:solidFill>
                <a:latin typeface="Arial" pitchFamily="34" charset="0"/>
                <a:ea typeface="Arial" pitchFamily="34" charset="-122"/>
                <a:cs typeface="Arial" pitchFamily="34" charset="-120"/>
              </a:rPr>
              <a:t>4. NOT APPLICABLE (N/A):
</a:t>
            </a:r>
            <a:pPr indent="0" marL="0">
              <a:lnSpc>
                <a:spcPts val="1600"/>
              </a:lnSpc>
              <a:buNone/>
            </a:pPr>
            <a:r>
              <a:rPr lang="en-US" sz="1000" dirty="0">
                <a:solidFill>
                  <a:srgbClr val="F8FAFC"/>
                </a:solidFill>
                <a:latin typeface="Arial" pitchFamily="34" charset="0"/>
                <a:ea typeface="Arial" pitchFamily="34" charset="-122"/>
                <a:cs typeface="Arial" pitchFamily="34" charset="-120"/>
              </a:rPr>
              <a:t>Excluded with formal engineering justification approved by class.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19 | DUAL-CLASS COMPLIANCE MATRIX</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Complete Dual-Class Compliance Matrix &amp; Engineering Gap Analysis</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254910"/>
                <a:gridCol w="2254910"/>
                <a:gridCol w="2254910"/>
                <a:gridCol w="2254910"/>
                <a:gridCol w="2254910"/>
              </a:tblGrid>
              <a:tr h="320040">
                <a:tc>
                  <a:txBody>
                    <a:bodyPr/>
                    <a:lstStyle/>
                    <a:p>
                      <a:pPr indent="0" marL="0">
                        <a:buNone/>
                      </a:pPr>
                      <a:r>
                        <a:rPr lang="en-US" sz="900" b="1" dirty="0">
                          <a:solidFill>
                            <a:srgbClr val="38BDF8"/>
                          </a:solidFill>
                          <a:latin typeface="Arial" pitchFamily="34" charset="0"/>
                          <a:ea typeface="Arial" pitchFamily="34" charset="-122"/>
                          <a:cs typeface="Arial" pitchFamily="34" charset="-120"/>
                        </a:rPr>
                        <a:t>Subsystem</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ABS Dec 2025 Guide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IRS Mar 2026 Rules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VFCPL-MEP-001 Baseline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Status &amp; Action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070C16"/>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System Threshold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Mandatory &gt;=20 kWh</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All propulsion/essential BESS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Modular commercial system &gt;20 kWh</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ACCEPTED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Cell Safety</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IEC 62619:2022</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IEC 62619:2022 (CN Rev.1)</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LFP Prismatic Cells (307 Ah)</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ACCEPTED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Cell Performance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IEC 62620:2023</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IEC 62620 (CN Rev.1 §5.3)</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IEC 62620 rated and laser marked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ACCEPTED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Thermal Runaway</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Non-propagation test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CN Rev.1 App.1(b)#5 test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Dielectric immersion cooling bath</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SUBMITTED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Shop Hydrotest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1.5x design press, 30 min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5.2.d.viii pressure test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Sealed aluminum casing</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F59E0B"/>
                          </a:solidFill>
                          <a:latin typeface="Arial" pitchFamily="34" charset="0"/>
                          <a:ea typeface="Arial" pitchFamily="34" charset="-122"/>
                          <a:cs typeface="Arial" pitchFamily="34" charset="-120"/>
                        </a:rPr>
                        <a:t>GAP: Formalize SOP-004</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BMS Override Lock</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Overrides forbidden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4.4.h override lockout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Firmware hardcoded lockout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ACCEPTED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Environmental</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IACS UR E10 (Pt 4, Ch 9)</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IACS UR E10 (CN Rev.1)</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Clean Electric BMS hardware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F59E0B"/>
                          </a:solidFill>
                          <a:latin typeface="Arial" pitchFamily="34" charset="0"/>
                          <a:ea typeface="Arial" pitchFamily="34" charset="-122"/>
                          <a:cs typeface="Arial" pitchFamily="34" charset="-120"/>
                        </a:rPr>
                        <a:t>GAP: UR E10 lab test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Enclosure IP</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Min IP44 space / IP67 deck</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Min IP44 (GL Rev.2 2.2.8)</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IP67 sealed aluminum enclosure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ACCEPTED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Ventilation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Normal + Emergency exhaust</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2 ACH normal / 6 ACH emerg</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HVAC layout specification</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38BDF8"/>
                          </a:solidFill>
                          <a:latin typeface="Arial" pitchFamily="34" charset="0"/>
                          <a:ea typeface="Arial" pitchFamily="34" charset="-122"/>
                          <a:cs typeface="Arial" pitchFamily="34" charset="-120"/>
                        </a:rPr>
                        <a:t>SUBMITTED</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r h="411480">
                <a:tc>
                  <a:txBody>
                    <a:bodyPr/>
                    <a:lstStyle/>
                    <a:p>
                      <a:pPr indent="0" marL="0">
                        <a:buNone/>
                      </a:pPr>
                      <a:r>
                        <a:rPr lang="en-US" sz="900" b="1" dirty="0">
                          <a:solidFill>
                            <a:srgbClr val="F8FAFC"/>
                          </a:solidFill>
                          <a:latin typeface="Arial" pitchFamily="34" charset="0"/>
                          <a:ea typeface="Arial" pitchFamily="34" charset="-122"/>
                          <a:cs typeface="Arial" pitchFamily="34" charset="-120"/>
                        </a:rPr>
                        <a:t>Type Approval</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ABS PDA + MA (5 Years)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IRS TA Certificate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dirty="0">
                          <a:solidFill>
                            <a:srgbClr val="F8FAFC"/>
                          </a:solidFill>
                          <a:latin typeface="Arial" pitchFamily="34" charset="0"/>
                          <a:ea typeface="Arial" pitchFamily="34" charset="-122"/>
                          <a:cs typeface="Arial" pitchFamily="34" charset="-120"/>
                        </a:rPr>
                        <a:t>Target certification submissions</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c>
                  <a:txBody>
                    <a:bodyPr/>
                    <a:lstStyle/>
                    <a:p>
                      <a:pPr indent="0" marL="0">
                        <a:buNone/>
                      </a:pPr>
                      <a:r>
                        <a:rPr lang="en-US" sz="900" b="1" dirty="0">
                          <a:solidFill>
                            <a:srgbClr val="F59E0B"/>
                          </a:solidFill>
                          <a:latin typeface="Arial" pitchFamily="34" charset="0"/>
                          <a:ea typeface="Arial" pitchFamily="34" charset="-122"/>
                          <a:cs typeface="Arial" pitchFamily="34" charset="-120"/>
                        </a:rPr>
                        <a:t>GAP: Submit PDA package</a:t>
                      </a:r>
                      <a:endParaRPr lang="en-US" sz="900" dirty="0">
                        <a:latin typeface="Arial" charset="0"/>
                        <a:ea typeface="Arial" charset="0"/>
                        <a:cs typeface="Arial" charset="0"/>
                      </a:endParaRPr>
                    </a:p>
                  </a:txBody>
                  <a:tcPr marL="91440" marR="91440" marT="45720" marB="45720">
                    <a:lnL w="6350" cap="flat" cmpd="sng" algn="ctr">
                      <a:solidFill>
                        <a:srgbClr val="223252"/>
                      </a:solidFill>
                      <a:prstDash val="solid"/>
                      <a:round/>
                      <a:headEnd type="none" w="med" len="med"/>
                      <a:tailEnd type="none" w="med" len="med"/>
                    </a:lnL>
                    <a:lnR w="6350" cap="flat" cmpd="sng" algn="ctr">
                      <a:solidFill>
                        <a:srgbClr val="223252"/>
                      </a:solidFill>
                      <a:prstDash val="solid"/>
                      <a:round/>
                      <a:headEnd type="none" w="med" len="med"/>
                      <a:tailEnd type="none" w="med" len="med"/>
                    </a:lnR>
                    <a:lnT w="6350" cap="flat" cmpd="sng" algn="ctr">
                      <a:solidFill>
                        <a:srgbClr val="223252"/>
                      </a:solidFill>
                      <a:prstDash val="solid"/>
                      <a:round/>
                      <a:headEnd type="none" w="med" len="med"/>
                      <a:tailEnd type="none" w="med" len="med"/>
                    </a:lnT>
                    <a:lnB w="6350" cap="flat" cmpd="sng" algn="ctr">
                      <a:solidFill>
                        <a:srgbClr val="223252"/>
                      </a:solidFill>
                      <a:prstDash val="solid"/>
                      <a:round/>
                      <a:headEnd type="none" w="med" len="med"/>
                      <a:tailEnd type="none" w="med" len="med"/>
                    </a:lnB>
                    <a:solidFill>
                      <a:srgbClr val="111C30"/>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D16"/>
        </a:solidFill>
      </p:bgPr>
    </p:bg>
    <p:spTree>
      <p:nvGrpSpPr>
        <p:cNvPr id="1" name=""/>
        <p:cNvGrpSpPr/>
        <p:nvPr/>
      </p:nvGrpSpPr>
      <p:grpSpPr>
        <a:xfrm>
          <a:off x="0" y="0"/>
          <a:ext cx="0" cy="0"/>
          <a:chOff x="0" y="0"/>
          <a:chExt cx="0" cy="0"/>
        </a:xfrm>
      </p:grpSpPr>
      <p:sp>
        <p:nvSpPr>
          <p:cNvPr id="2" name="Shape 0"/>
          <p:cNvSpPr/>
          <p:nvPr/>
        </p:nvSpPr>
        <p:spPr>
          <a:xfrm>
            <a:off x="457200" y="365760"/>
            <a:ext cx="11274552" cy="777240"/>
          </a:xfrm>
          <a:prstGeom prst="rect">
            <a:avLst/>
          </a:prstGeom>
          <a:solidFill>
            <a:srgbClr val="111C30"/>
          </a:solidFill>
          <a:ln w="12700">
            <a:solidFill>
              <a:srgbClr val="223252"/>
            </a:solidFill>
            <a:prstDash val="solid"/>
          </a:ln>
        </p:spPr>
      </p:sp>
      <p:sp>
        <p:nvSpPr>
          <p:cNvPr id="3" name="Text 1"/>
          <p:cNvSpPr/>
          <p:nvPr/>
        </p:nvSpPr>
        <p:spPr>
          <a:xfrm>
            <a:off x="640080" y="438912"/>
            <a:ext cx="45720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SLIDE 20 | APPROVAL ROADMAP &amp; DECISIONS</a:t>
            </a:r>
            <a:endParaRPr lang="en-US" sz="1000" dirty="0"/>
          </a:p>
        </p:txBody>
      </p:sp>
      <p:sp>
        <p:nvSpPr>
          <p:cNvPr id="4" name="Text 2"/>
          <p:cNvSpPr/>
          <p:nvPr/>
        </p:nvSpPr>
        <p:spPr>
          <a:xfrm>
            <a:off x="640080" y="667512"/>
            <a:ext cx="9601200" cy="384048"/>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Approval Sequence &amp; 10 First-Meeting Decisions (Section 10 &amp; 12)</a:t>
            </a:r>
            <a:endParaRPr lang="en-US" sz="1800" dirty="0"/>
          </a:p>
        </p:txBody>
      </p:sp>
      <p:sp>
        <p:nvSpPr>
          <p:cNvPr id="5" name="Shape 3"/>
          <p:cNvSpPr/>
          <p:nvPr/>
        </p:nvSpPr>
        <p:spPr>
          <a:xfrm>
            <a:off x="457200" y="6400800"/>
            <a:ext cx="11274552" cy="320040"/>
          </a:xfrm>
          <a:prstGeom prst="rect">
            <a:avLst/>
          </a:prstGeom>
          <a:solidFill>
            <a:srgbClr val="111C30"/>
          </a:solidFill>
          <a:ln w="12700">
            <a:solidFill>
              <a:srgbClr val="223252"/>
            </a:solidFill>
            <a:prstDash val="solid"/>
          </a:ln>
        </p:spPr>
      </p:sp>
      <p:sp>
        <p:nvSpPr>
          <p:cNvPr id="6" name="Text 4"/>
          <p:cNvSpPr/>
          <p:nvPr/>
        </p:nvSpPr>
        <p:spPr>
          <a:xfrm>
            <a:off x="640080" y="6446520"/>
            <a:ext cx="7315200" cy="22860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VFCPL-MEP-001 (Project SAMUDRA) AMBESS | ABS ESS-LiBATTERY &amp; IRS Alignment</a:t>
            </a:r>
            <a:endParaRPr lang="en-US" sz="900" dirty="0"/>
          </a:p>
        </p:txBody>
      </p:sp>
      <p:sp>
        <p:nvSpPr>
          <p:cNvPr id="7" name="Text 5"/>
          <p:cNvSpPr/>
          <p:nvPr/>
        </p:nvSpPr>
        <p:spPr>
          <a:xfrm>
            <a:off x="7772400" y="6446520"/>
            <a:ext cx="3749040" cy="22860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CONFIDENTIAL - FOR CLASS &amp; ENGINEERING REVIEW</a:t>
            </a:r>
            <a:endParaRPr lang="en-US" sz="900" dirty="0"/>
          </a:p>
        </p:txBody>
      </p:sp>
      <p:sp>
        <p:nvSpPr>
          <p:cNvPr id="8" name="Shape 6"/>
          <p:cNvSpPr/>
          <p:nvPr/>
        </p:nvSpPr>
        <p:spPr>
          <a:xfrm>
            <a:off x="457200" y="1325880"/>
            <a:ext cx="5394960" cy="4754880"/>
          </a:xfrm>
          <a:prstGeom prst="rect">
            <a:avLst/>
          </a:prstGeom>
          <a:solidFill>
            <a:srgbClr val="111C30"/>
          </a:solidFill>
          <a:ln w="12700">
            <a:solidFill>
              <a:srgbClr val="223252"/>
            </a:solidFill>
            <a:prstDash val="solid"/>
          </a:ln>
        </p:spPr>
      </p:sp>
      <p:sp>
        <p:nvSpPr>
          <p:cNvPr id="9" name="Text 7"/>
          <p:cNvSpPr/>
          <p:nvPr/>
        </p:nvSpPr>
        <p:spPr>
          <a:xfrm>
            <a:off x="640080" y="1508760"/>
            <a:ext cx="50292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The 8-Step Approval Sequence</a:t>
            </a:r>
            <a:endParaRPr lang="en-US" sz="1300" dirty="0"/>
          </a:p>
        </p:txBody>
      </p:sp>
      <p:sp>
        <p:nvSpPr>
          <p:cNvPr id="10" name="Text 8"/>
          <p:cNvSpPr/>
          <p:nvPr/>
        </p:nvSpPr>
        <p:spPr>
          <a:xfrm>
            <a:off x="640080" y="1920240"/>
            <a:ext cx="5029200" cy="3931920"/>
          </a:xfrm>
          <a:prstGeom prst="rect">
            <a:avLst/>
          </a:prstGeom>
          <a:noFill/>
          <a:ln/>
        </p:spPr>
        <p:txBody>
          <a:bodyPr wrap="square" rtlCol="0" anchor="ctr"/>
          <a:lstStyle/>
          <a:p>
            <a:pPr indent="0" marL="0">
              <a:lnSpc>
                <a:spcPts val="1500"/>
              </a:lnSpc>
              <a:buNone/>
            </a:pPr>
            <a:r>
              <a:rPr lang="en-US" sz="950" b="1" dirty="0">
                <a:solidFill>
                  <a:srgbClr val="38BDF8"/>
                </a:solidFill>
                <a:latin typeface="Arial" pitchFamily="34" charset="0"/>
                <a:ea typeface="Arial" pitchFamily="34" charset="-122"/>
                <a:cs typeface="Arial" pitchFamily="34" charset="-120"/>
              </a:rPr>
              <a:t>1. Freeze Certification Basis: </a:t>
            </a:r>
            <a:pPr indent="0" marL="0">
              <a:lnSpc>
                <a:spcPts val="1500"/>
              </a:lnSpc>
              <a:buNone/>
            </a:pPr>
            <a:r>
              <a:rPr lang="en-US" sz="950" dirty="0">
                <a:solidFill>
                  <a:srgbClr val="F8FAFC"/>
                </a:solidFill>
                <a:latin typeface="Arial" pitchFamily="34" charset="0"/>
                <a:ea typeface="Arial" pitchFamily="34" charset="-122"/>
                <a:cs typeface="Arial" pitchFamily="34" charset="-120"/>
              </a:rPr>
              <a:t>Rule editions, duty, model family.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2. Report-by-Report Gap Review: </a:t>
            </a:r>
            <a:pPr indent="0" marL="0">
              <a:lnSpc>
                <a:spcPts val="1500"/>
              </a:lnSpc>
              <a:buNone/>
            </a:pPr>
            <a:r>
              <a:rPr lang="en-US" sz="950" dirty="0">
                <a:solidFill>
                  <a:srgbClr val="F8FAFC"/>
                </a:solidFill>
                <a:latin typeface="Arial" pitchFamily="34" charset="0"/>
                <a:ea typeface="Arial" pitchFamily="34" charset="-122"/>
                <a:cs typeface="Arial" pitchFamily="34" charset="-120"/>
              </a:rPr>
              <a:t>Match claims to documents.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3. Agree Test Plan Before Booking Labs: </a:t>
            </a:r>
            <a:pPr indent="0" marL="0">
              <a:lnSpc>
                <a:spcPts val="1500"/>
              </a:lnSpc>
              <a:buNone/>
            </a:pPr>
            <a:r>
              <a:rPr lang="en-US" sz="950" dirty="0">
                <a:solidFill>
                  <a:srgbClr val="F8FAFC"/>
                </a:solidFill>
                <a:latin typeface="Arial" pitchFamily="34" charset="0"/>
                <a:ea typeface="Arial" pitchFamily="34" charset="-122"/>
                <a:cs typeface="Arial" pitchFamily="34" charset="-120"/>
              </a:rPr>
              <a:t>Lock lab protocols.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4. Resolve Architecture Risks: </a:t>
            </a:r>
            <a:pPr indent="0" marL="0">
              <a:lnSpc>
                <a:spcPts val="1500"/>
              </a:lnSpc>
              <a:buNone/>
            </a:pPr>
            <a:r>
              <a:rPr lang="en-US" sz="950" dirty="0">
                <a:solidFill>
                  <a:srgbClr val="F8FAFC"/>
                </a:solidFill>
                <a:latin typeface="Arial" pitchFamily="34" charset="0"/>
                <a:ea typeface="Arial" pitchFamily="34" charset="-122"/>
                <a:cs typeface="Arial" pitchFamily="34" charset="-120"/>
              </a:rPr>
              <a:t>Cooling, isolation, override locks.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5. Qualify Representative Design: </a:t>
            </a:r>
            <a:pPr indent="0" marL="0">
              <a:lnSpc>
                <a:spcPts val="1500"/>
              </a:lnSpc>
              <a:buNone/>
            </a:pPr>
            <a:r>
              <a:rPr lang="en-US" sz="950" dirty="0">
                <a:solidFill>
                  <a:srgbClr val="F8FAFC"/>
                </a:solidFill>
                <a:latin typeface="Arial" pitchFamily="34" charset="0"/>
                <a:ea typeface="Arial" pitchFamily="34" charset="-122"/>
                <a:cs typeface="Arial" pitchFamily="34" charset="-120"/>
              </a:rPr>
              <a:t>BOM, HW, FW control.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6. Complete Works Assessment: </a:t>
            </a:r>
            <a:pPr indent="0" marL="0">
              <a:lnSpc>
                <a:spcPts val="1500"/>
              </a:lnSpc>
              <a:buNone/>
            </a:pPr>
            <a:r>
              <a:rPr lang="en-US" sz="950" dirty="0">
                <a:solidFill>
                  <a:srgbClr val="F8FAFC"/>
                </a:solidFill>
                <a:latin typeface="Arial" pitchFamily="34" charset="0"/>
                <a:ea typeface="Arial" pitchFamily="34" charset="-122"/>
                <a:cs typeface="Arial" pitchFamily="34" charset="-120"/>
              </a:rPr>
              <a:t>Factory QA audit.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7. Deliver Serial Dossier: </a:t>
            </a:r>
            <a:pPr indent="0" marL="0">
              <a:lnSpc>
                <a:spcPts val="1500"/>
              </a:lnSpc>
              <a:buNone/>
            </a:pPr>
            <a:r>
              <a:rPr lang="en-US" sz="950" dirty="0">
                <a:solidFill>
                  <a:srgbClr val="F8FAFC"/>
                </a:solidFill>
                <a:latin typeface="Arial" pitchFamily="34" charset="0"/>
                <a:ea typeface="Arial" pitchFamily="34" charset="-122"/>
                <a:cs typeface="Arial" pitchFamily="34" charset="-120"/>
              </a:rPr>
              <a:t>Unit test records and deviations.
</a:t>
            </a:r>
            <a:pPr indent="0" marL="0">
              <a:lnSpc>
                <a:spcPts val="1500"/>
              </a:lnSpc>
              <a:buNone/>
            </a:pPr>
            <a:r>
              <a:rPr lang="en-US" sz="950" b="1" dirty="0">
                <a:solidFill>
                  <a:srgbClr val="38BDF8"/>
                </a:solidFill>
                <a:latin typeface="Arial" pitchFamily="34" charset="0"/>
                <a:ea typeface="Arial" pitchFamily="34" charset="-122"/>
                <a:cs typeface="Arial" pitchFamily="34" charset="-120"/>
              </a:rPr>
              <a:t>8. Support Installation: </a:t>
            </a:r>
            <a:pPr indent="0" marL="0">
              <a:lnSpc>
                <a:spcPts val="1500"/>
              </a:lnSpc>
              <a:buNone/>
            </a:pPr>
            <a:r>
              <a:rPr lang="en-US" sz="950" dirty="0">
                <a:solidFill>
                  <a:srgbClr val="F8FAFC"/>
                </a:solidFill>
                <a:latin typeface="Arial" pitchFamily="34" charset="0"/>
                <a:ea typeface="Arial" pitchFamily="34" charset="-122"/>
                <a:cs typeface="Arial" pitchFamily="34" charset="-120"/>
              </a:rPr>
              <a:t>Shipyard sea trials &amp; commissioning.</a:t>
            </a:r>
            <a:endParaRPr lang="en-US" sz="950" dirty="0"/>
          </a:p>
        </p:txBody>
      </p:sp>
      <p:sp>
        <p:nvSpPr>
          <p:cNvPr id="11" name="Shape 9"/>
          <p:cNvSpPr/>
          <p:nvPr/>
        </p:nvSpPr>
        <p:spPr>
          <a:xfrm>
            <a:off x="6309360" y="1325880"/>
            <a:ext cx="5422392" cy="4754880"/>
          </a:xfrm>
          <a:prstGeom prst="rect">
            <a:avLst/>
          </a:prstGeom>
          <a:solidFill>
            <a:srgbClr val="111C30"/>
          </a:solidFill>
          <a:ln w="12700">
            <a:solidFill>
              <a:srgbClr val="223252"/>
            </a:solidFill>
            <a:prstDash val="solid"/>
          </a:ln>
        </p:spPr>
      </p:sp>
      <p:sp>
        <p:nvSpPr>
          <p:cNvPr id="12" name="Text 10"/>
          <p:cNvSpPr/>
          <p:nvPr/>
        </p:nvSpPr>
        <p:spPr>
          <a:xfrm>
            <a:off x="6492240" y="1508760"/>
            <a:ext cx="5029200"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10 Decisions for First Technical Meeting</a:t>
            </a:r>
            <a:endParaRPr lang="en-US" sz="1300" dirty="0"/>
          </a:p>
        </p:txBody>
      </p:sp>
      <p:sp>
        <p:nvSpPr>
          <p:cNvPr id="13" name="Text 11"/>
          <p:cNvSpPr/>
          <p:nvPr/>
        </p:nvSpPr>
        <p:spPr>
          <a:xfrm>
            <a:off x="6492240" y="1920240"/>
            <a:ext cx="5029200" cy="3931920"/>
          </a:xfrm>
          <a:prstGeom prst="rect">
            <a:avLst/>
          </a:prstGeom>
          <a:noFill/>
          <a:ln/>
        </p:spPr>
        <p:txBody>
          <a:bodyPr wrap="square" rtlCol="0" anchor="ctr"/>
          <a:lstStyle/>
          <a:p>
            <a:pPr indent="0" marL="0">
              <a:lnSpc>
                <a:spcPts val="1400"/>
              </a:lnSpc>
              <a:buNone/>
            </a:pPr>
            <a:r>
              <a:rPr lang="en-US" sz="950" b="1" dirty="0">
                <a:solidFill>
                  <a:srgbClr val="F59E0B"/>
                </a:solidFill>
                <a:latin typeface="Arial" pitchFamily="34" charset="0"/>
                <a:ea typeface="Arial" pitchFamily="34" charset="-122"/>
                <a:cs typeface="Arial" pitchFamily="34" charset="-120"/>
              </a:rPr>
              <a:t>1. Confirm BESS service </a:t>
            </a:r>
            <a:pPr indent="0" marL="0">
              <a:lnSpc>
                <a:spcPts val="1400"/>
              </a:lnSpc>
              <a:buNone/>
            </a:pPr>
            <a:r>
              <a:rPr lang="en-US" sz="950" dirty="0">
                <a:solidFill>
                  <a:srgbClr val="F8FAFC"/>
                </a:solidFill>
                <a:latin typeface="Arial" pitchFamily="34" charset="0"/>
                <a:ea typeface="Arial" pitchFamily="34" charset="-122"/>
                <a:cs typeface="Arial" pitchFamily="34" charset="-120"/>
              </a:rPr>
              <a:t>(auxiliary-only duty rule basis).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2. Package vs. component </a:t>
            </a:r>
            <a:pPr indent="0" marL="0">
              <a:lnSpc>
                <a:spcPts val="1400"/>
              </a:lnSpc>
              <a:buNone/>
            </a:pPr>
            <a:r>
              <a:rPr lang="en-US" sz="950" dirty="0">
                <a:solidFill>
                  <a:srgbClr val="F8FAFC"/>
                </a:solidFill>
                <a:latin typeface="Arial" pitchFamily="34" charset="0"/>
                <a:ea typeface="Arial" pitchFamily="34" charset="-122"/>
                <a:cs typeface="Arial" pitchFamily="34" charset="-120"/>
              </a:rPr>
              <a:t>certificate scope.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3. Representative model </a:t>
            </a:r>
            <a:pPr indent="0" marL="0">
              <a:lnSpc>
                <a:spcPts val="1400"/>
              </a:lnSpc>
              <a:buNone/>
            </a:pPr>
            <a:r>
              <a:rPr lang="en-US" sz="950" dirty="0">
                <a:solidFill>
                  <a:srgbClr val="F8FAFC"/>
                </a:solidFill>
                <a:latin typeface="Arial" pitchFamily="34" charset="0"/>
                <a:ea typeface="Arial" pitchFamily="34" charset="-122"/>
                <a:cs typeface="Arial" pitchFamily="34" charset="-120"/>
              </a:rPr>
              <a:t>and product family limits.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4. Written decision </a:t>
            </a:r>
            <a:pPr indent="0" marL="0">
              <a:lnSpc>
                <a:spcPts val="1400"/>
              </a:lnSpc>
              <a:buNone/>
            </a:pPr>
            <a:r>
              <a:rPr lang="en-US" sz="950" dirty="0">
                <a:solidFill>
                  <a:srgbClr val="F8FAFC"/>
                </a:solidFill>
                <a:latin typeface="Arial" pitchFamily="34" charset="0"/>
                <a:ea typeface="Arial" pitchFamily="34" charset="-122"/>
                <a:cs typeface="Arial" pitchFamily="34" charset="-120"/>
              </a:rPr>
              <a:t>on existing IEC / ABS witnessed reports.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5. Propagation-test setup </a:t>
            </a:r>
            <a:pPr indent="0" marL="0">
              <a:lnSpc>
                <a:spcPts val="1400"/>
              </a:lnSpc>
              <a:buNone/>
            </a:pPr>
            <a:r>
              <a:rPr lang="en-US" sz="950" dirty="0">
                <a:solidFill>
                  <a:srgbClr val="F8FAFC"/>
                </a:solidFill>
                <a:latin typeface="Arial" pitchFamily="34" charset="0"/>
                <a:ea typeface="Arial" pitchFamily="34" charset="-122"/>
                <a:cs typeface="Arial" pitchFamily="34" charset="-120"/>
              </a:rPr>
              <a:t>and acceptance criteria.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6. Environmental qualification </a:t>
            </a:r>
            <a:pPr indent="0" marL="0">
              <a:lnSpc>
                <a:spcPts val="1400"/>
              </a:lnSpc>
              <a:buNone/>
            </a:pPr>
            <a:r>
              <a:rPr lang="en-US" sz="950" dirty="0">
                <a:solidFill>
                  <a:srgbClr val="F8FAFC"/>
                </a:solidFill>
                <a:latin typeface="Arial" pitchFamily="34" charset="0"/>
                <a:ea typeface="Arial" pitchFamily="34" charset="-122"/>
                <a:cs typeface="Arial" pitchFamily="34" charset="-120"/>
              </a:rPr>
              <a:t>locations (IACS UR E10).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7. BMS software assessment </a:t>
            </a:r>
            <a:pPr indent="0" marL="0">
              <a:lnSpc>
                <a:spcPts val="1400"/>
              </a:lnSpc>
              <a:buNone/>
            </a:pPr>
            <a:r>
              <a:rPr lang="en-US" sz="950" dirty="0">
                <a:solidFill>
                  <a:srgbClr val="F8FAFC"/>
                </a:solidFill>
                <a:latin typeface="Arial" pitchFamily="34" charset="0"/>
                <a:ea typeface="Arial" pitchFamily="34" charset="-122"/>
                <a:cs typeface="Arial" pitchFamily="34" charset="-120"/>
              </a:rPr>
              <a:t>and failure simulation tests.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8. Unit-certification scope </a:t>
            </a:r>
            <a:pPr indent="0" marL="0">
              <a:lnSpc>
                <a:spcPts val="1400"/>
              </a:lnSpc>
              <a:buNone/>
            </a:pPr>
            <a:r>
              <a:rPr lang="en-US" sz="950" dirty="0">
                <a:solidFill>
                  <a:srgbClr val="F8FAFC"/>
                </a:solidFill>
                <a:latin typeface="Arial" pitchFamily="34" charset="0"/>
                <a:ea typeface="Arial" pitchFamily="34" charset="-122"/>
                <a:cs typeface="Arial" pitchFamily="34" charset="-120"/>
              </a:rPr>
              <a:t>and factory hold points.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9. Installation dependencies </a:t>
            </a:r>
            <a:pPr indent="0" marL="0">
              <a:lnSpc>
                <a:spcPts val="1400"/>
              </a:lnSpc>
              <a:buNone/>
            </a:pPr>
            <a:r>
              <a:rPr lang="en-US" sz="950" dirty="0">
                <a:solidFill>
                  <a:srgbClr val="F8FAFC"/>
                </a:solidFill>
                <a:latin typeface="Arial" pitchFamily="34" charset="0"/>
                <a:ea typeface="Arial" pitchFamily="34" charset="-122"/>
                <a:cs typeface="Arial" pitchFamily="34" charset="-120"/>
              </a:rPr>
              <a:t>appearing as certificate limits.
</a:t>
            </a:r>
            <a:pPr indent="0" marL="0">
              <a:lnSpc>
                <a:spcPts val="1400"/>
              </a:lnSpc>
              <a:buNone/>
            </a:pPr>
            <a:r>
              <a:rPr lang="en-US" sz="950" b="1" dirty="0">
                <a:solidFill>
                  <a:srgbClr val="F59E0B"/>
                </a:solidFill>
                <a:latin typeface="Arial" pitchFamily="34" charset="0"/>
                <a:ea typeface="Arial" pitchFamily="34" charset="-122"/>
                <a:cs typeface="Arial" pitchFamily="34" charset="-120"/>
              </a:rPr>
              <a:t>10. Change-notification thresholds </a:t>
            </a:r>
            <a:pPr indent="0" marL="0">
              <a:lnSpc>
                <a:spcPts val="1400"/>
              </a:lnSpc>
              <a:buNone/>
            </a:pPr>
            <a:r>
              <a:rPr lang="en-US" sz="950" dirty="0">
                <a:solidFill>
                  <a:srgbClr val="F8FAFC"/>
                </a:solidFill>
                <a:latin typeface="Arial" pitchFamily="34" charset="0"/>
                <a:ea typeface="Arial" pitchFamily="34" charset="-122"/>
                <a:cs typeface="Arial" pitchFamily="34" charset="-120"/>
              </a:rPr>
              <a:t>for cells and firmware.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Vayusakti Future Construct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VFCPL-MEP-001 Marine BESS: ABS ESS-LiBATTERY &amp; IRS Compliance</dc:title>
  <dc:subject>PptxGenJS Presentation</dc:subject>
  <dc:creator>VFCPL Engineering &amp; Compliance</dc:creator>
  <cp:lastModifiedBy>VFCPL Engineering &amp; Compliance</cp:lastModifiedBy>
  <cp:revision>1</cp:revision>
  <dcterms:created xsi:type="dcterms:W3CDTF">2026-09-18T10:18:11Z</dcterms:created>
  <dcterms:modified xsi:type="dcterms:W3CDTF">2026-09-18T10:18:11Z</dcterms:modified>
</cp:coreProperties>
</file>